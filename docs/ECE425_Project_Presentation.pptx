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 This is a Bluetooth-controlled music box. Ten songs are stored on the TM4C123 itself. You send a single number from your phone over Bluetooth Low Energy, and the board plays that stored song on its buzzer. No audio streams over the air, and everything comes from Labs 1, 2, 3, and 6.</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whole idea in one line: the phone picks a song, the board plays it. Stress that the songs are stored on the chip. The phone is only a remote control that sends one character. Point at the photo: red board is the LaunchPad, black board is the EduBase trainer with the buzzer, clear module is the HM-10.</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Key point: BLE devices do not show up in the iPhone's Bluetooth settings the way a speaker does, so we use a free app called LightBlue. The left card is Classic Bluetooth, what speakers and cars use, and it is NOT what we use. The right card, highlighted, is BLE, what our module uses. Then three steps: connect to DSD TECH, set the write format to UTF-8 String, and send a digit.</a:t>
            </a:r>
            <a:endParaRPr/>
          </a:p>
        </p:txBody>
      </p:sp>
      <p:sp>
        <p:nvSpPr>
          <p:cNvPr id="68" name="Google Shape;6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HM-10 is built on TI's CC2541 chip. We chose it over the HC-05 from the project list because HC-05 is Classic Bluetooth, which iOS blocks, but the HM-10 is BLE, so it talks to an iPhone. It is a transparent serial bridge: bytes in one side come out the other wirelessly. Four pins, but since the phone only sends to the board, we only wired the module's TXD line in.</a:t>
            </a:r>
            <a:endParaRPr/>
          </a:p>
        </p:txBody>
      </p:sp>
      <p:sp>
        <p:nvSpPr>
          <p:cNvPr id="109" name="Google Shape;10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hardware bridge, from Lab 6. UART is serial, one wire per direction, and the rule is TX to RX, crossed. We put the HM-10 on UART5, on Port E pins PE4 and PE5. Because the phone only sends to us, we only use PE4, the receive pin. Emphasize the ground wire: a missing shared ground was one thing we checked during debugging.</a:t>
            </a:r>
            <a:endParaRPr/>
          </a:p>
        </p:txBody>
      </p:sp>
      <p:sp>
        <p:nvSpPr>
          <p:cNvPr id="149" name="Google Shape;14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code-flow overview the professor asked for. The top callout is the key concept: songs are stored in the program, Bluetooth only sends one character to choose which plays. main() configures four things in order, each mapping to a lab: PC4 output is Lab 1, Timer0 time base is Lab 2, UART5 is Lab 6, receive interrupt is Lab 3. The next three slides walk through each piece.</a:t>
            </a:r>
            <a:endParaRPr/>
          </a:p>
        </p:txBody>
      </p:sp>
      <p:sp>
        <p:nvSpPr>
          <p:cNvPr id="187" name="Google Shape;18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Lab 2, the sound engine. A musical note is a square wave at that note's frequency, so we flip PC4 high and low at the right rate and the buzzer produces the pitch. Timer0 gives an accurate one-microsecond delay, which controls the frequency. Each song is a table of notes with a pitch and duration, so adding a song is just adding another table. The code shows the Timer0 setup and the loop that toggles the pin.</a:t>
            </a:r>
            <a:endParaRPr/>
          </a:p>
        </p:txBody>
      </p:sp>
      <p:sp>
        <p:nvSpPr>
          <p:cNvPr id="236" name="Google Shape;23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Lab 6, configuring the UART to receive. Enable the clocks to UART5 and Port E. Route PE4 to its UART alternate function so it becomes the receive line. Set the baud to 9600 to match the HM-10, using the IBRD and FBRD values for 16 MHz. Set 8 data bits, no parity, one stop bit, then enable the UART, the receiver, and the receive interrupt. That last line connects to the next slide.</a:t>
            </a:r>
            <a:endParaRPr/>
          </a:p>
        </p:txBody>
      </p:sp>
      <p:sp>
        <p:nvSpPr>
          <p:cNvPr id="269" name="Google Shape;26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Lab 3, the interrupt. Instead of a loop asking whether a byte arrived, the hardware calls our handler automatically. The handler is tiny: read the character into a volatile variable command and return. The main loop plays the song, and because playSong checks command between notes, a new key switches or stops instantly. The bottom callout is the Lab 3 lesson: if you do not clear the interrupt flag you get stuck in the handler forever. We clear all the UART flags, and getting that wrong was an actual bug we hit.</a:t>
            </a:r>
            <a:endParaRPr/>
          </a:p>
        </p:txBody>
      </p:sp>
      <p:sp>
        <p:nvSpPr>
          <p:cNvPr id="302" name="Google Shape;30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best debugging story, tied to Lab 2. Everything looked right, the module connected, the interrupt fired, but no song, and the boot chirp sounded high. Cause: Keil defaults the chip to 50 MHz, but all our math assumes 16 MHz. The Timer0 tick was three times too fast, making notes too high, and the UART ran near 30000 baud, so every byte came in garbled and matched no song. The fix was commenting out one line, CLOCK_SETUP, exactly what Lab 2 told us to do. The lesson: the clock feeds both timing and baud rate, so one wrong setting breaks two things at once.</a:t>
            </a:r>
            <a:endParaRPr/>
          </a:p>
        </p:txBody>
      </p:sp>
      <p:sp>
        <p:nvSpPr>
          <p:cNvPr id="337" name="Google Shape;33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 it together: the iPhone sends one character over BLE to the HM-10, the HM-10 forwards it over UART into PE4, the interrupt stores it, the main loop plays the song by toggling PC4 into a square wave, driving the buzzer. Everything came from four labs. Briefly mention where it could go next, an LED visualizer or streaming notes from the phone, then move into the live demo.</a:t>
            </a:r>
            <a:endParaRPr/>
          </a:p>
        </p:txBody>
      </p:sp>
      <p:sp>
        <p:nvSpPr>
          <p:cNvPr id="368" name="Google Shape;36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3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image" Target="../media/image5.jpg"/><Relationship Id="rId7" Type="http://schemas.openxmlformats.org/officeDocument/2006/relationships/image" Target="../media/image3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5.png"/><Relationship Id="rId10" Type="http://schemas.openxmlformats.org/officeDocument/2006/relationships/image" Target="../media/image9.png"/><Relationship Id="rId9"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png"/><Relationship Id="rId7" Type="http://schemas.openxmlformats.org/officeDocument/2006/relationships/image" Target="../media/image13.png"/><Relationship Id="rId8"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40.png"/><Relationship Id="rId6"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40.png"/><Relationship Id="rId6"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7.png"/><Relationship Id="rId6"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3.png"/><Relationship Id="rId4" Type="http://schemas.openxmlformats.org/officeDocument/2006/relationships/image" Target="../media/image3.png"/><Relationship Id="rId10" Type="http://schemas.openxmlformats.org/officeDocument/2006/relationships/image" Target="../media/image38.png"/><Relationship Id="rId9" Type="http://schemas.openxmlformats.org/officeDocument/2006/relationships/image" Target="../media/image33.png"/><Relationship Id="rId5" Type="http://schemas.openxmlformats.org/officeDocument/2006/relationships/image" Target="../media/image4.png"/><Relationship Id="rId6" Type="http://schemas.openxmlformats.org/officeDocument/2006/relationships/image" Target="../media/image42.png"/><Relationship Id="rId7" Type="http://schemas.openxmlformats.org/officeDocument/2006/relationships/image" Target="../media/image10.png"/><Relationship Id="rId8"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30"/>
        </a:solidFill>
      </p:bgPr>
    </p:bg>
    <p:spTree>
      <p:nvGrpSpPr>
        <p:cNvPr id="15" name="Shape 15"/>
        <p:cNvGrpSpPr/>
        <p:nvPr/>
      </p:nvGrpSpPr>
      <p:grpSpPr>
        <a:xfrm>
          <a:off x="0" y="0"/>
          <a:ext cx="0" cy="0"/>
          <a:chOff x="0" y="0"/>
          <a:chExt cx="0" cy="0"/>
        </a:xfrm>
      </p:grpSpPr>
      <p:sp>
        <p:nvSpPr>
          <p:cNvPr id="16" name="Google Shape;16;p3"/>
          <p:cNvSpPr/>
          <p:nvPr/>
        </p:nvSpPr>
        <p:spPr>
          <a:xfrm>
            <a:off x="9677095" y="-502920"/>
            <a:ext cx="2926080" cy="2926080"/>
          </a:xfrm>
          <a:prstGeom prst="ellipse">
            <a:avLst/>
          </a:prstGeom>
          <a:noFill/>
          <a:ln cap="flat" cmpd="sng" w="25400">
            <a:solidFill>
              <a:srgbClr val="1C33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042855" y="-137160"/>
            <a:ext cx="2194560" cy="2194560"/>
          </a:xfrm>
          <a:prstGeom prst="ellipse">
            <a:avLst/>
          </a:prstGeom>
          <a:noFill/>
          <a:ln cap="flat" cmpd="sng" w="25400">
            <a:solidFill>
              <a:srgbClr val="2440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10408615" y="228600"/>
            <a:ext cx="1463040" cy="1463040"/>
          </a:xfrm>
          <a:prstGeom prst="ellipse">
            <a:avLst/>
          </a:prstGeom>
          <a:noFill/>
          <a:ln cap="flat" cmpd="sng" w="25400">
            <a:solidFill>
              <a:srgbClr val="2C4E7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10829239" y="649224"/>
            <a:ext cx="621792" cy="621792"/>
          </a:xfrm>
          <a:prstGeom prst="ellipse">
            <a:avLst/>
          </a:prstGeom>
          <a:solidFill>
            <a:srgbClr val="35D2E8"/>
          </a:solidFill>
          <a:ln>
            <a:noFill/>
          </a:ln>
          <a:effectLst>
            <a:outerShdw blurRad="1270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 name="Google Shape;20;p3"/>
          <p:cNvPicPr preferRelativeResize="0"/>
          <p:nvPr/>
        </p:nvPicPr>
        <p:blipFill rotWithShape="1">
          <a:blip r:embed="rId3">
            <a:alphaModFix/>
          </a:blip>
          <a:srcRect b="0" l="0" r="0" t="0"/>
          <a:stretch/>
        </p:blipFill>
        <p:spPr>
          <a:xfrm>
            <a:off x="10966399" y="786384"/>
            <a:ext cx="347472" cy="347472"/>
          </a:xfrm>
          <a:prstGeom prst="rect">
            <a:avLst/>
          </a:prstGeom>
          <a:noFill/>
          <a:ln>
            <a:noFill/>
          </a:ln>
        </p:spPr>
      </p:pic>
      <p:sp>
        <p:nvSpPr>
          <p:cNvPr id="21" name="Google Shape;21;p3"/>
          <p:cNvSpPr/>
          <p:nvPr/>
        </p:nvSpPr>
        <p:spPr>
          <a:xfrm>
            <a:off x="822960" y="1965960"/>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300"/>
              <a:buFont typeface="Calibri"/>
              <a:buNone/>
            </a:pPr>
            <a:r>
              <a:rPr b="1" i="0" lang="en-US" sz="1300" u="none" cap="none" strike="noStrike">
                <a:solidFill>
                  <a:srgbClr val="35D2E8"/>
                </a:solidFill>
                <a:latin typeface="Calibri"/>
                <a:ea typeface="Calibri"/>
                <a:cs typeface="Calibri"/>
                <a:sym typeface="Calibri"/>
              </a:rPr>
              <a:t>ECE 425/L   ·   MICROPROCESSOR SYSTEMS   ·   FINAL PROJECT</a:t>
            </a:r>
            <a:endParaRPr b="0" i="0" sz="1300" u="none" cap="none" strike="noStrike">
              <a:solidFill>
                <a:schemeClr val="dk1"/>
              </a:solidFill>
              <a:latin typeface="Calibri"/>
              <a:ea typeface="Calibri"/>
              <a:cs typeface="Calibri"/>
              <a:sym typeface="Calibri"/>
            </a:endParaRPr>
          </a:p>
        </p:txBody>
      </p:sp>
      <p:sp>
        <p:nvSpPr>
          <p:cNvPr id="22" name="Google Shape;22;p3"/>
          <p:cNvSpPr/>
          <p:nvPr/>
        </p:nvSpPr>
        <p:spPr>
          <a:xfrm>
            <a:off x="777240" y="2377440"/>
            <a:ext cx="10972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5800"/>
              <a:buFont typeface="Calibri"/>
              <a:buNone/>
            </a:pPr>
            <a:r>
              <a:rPr b="1" i="0" lang="en-US" sz="5800" u="none" cap="none" strike="noStrike">
                <a:solidFill>
                  <a:srgbClr val="F4F7FB"/>
                </a:solidFill>
                <a:latin typeface="Calibri"/>
                <a:ea typeface="Calibri"/>
                <a:cs typeface="Calibri"/>
                <a:sym typeface="Calibri"/>
              </a:rPr>
              <a:t>Bluetooth-Controlled</a:t>
            </a:r>
            <a:endParaRPr b="0" i="0" sz="5800" u="none" cap="none" strike="noStrike">
              <a:solidFill>
                <a:schemeClr val="dk1"/>
              </a:solidFill>
              <a:latin typeface="Calibri"/>
              <a:ea typeface="Calibri"/>
              <a:cs typeface="Calibri"/>
              <a:sym typeface="Calibri"/>
            </a:endParaRPr>
          </a:p>
        </p:txBody>
      </p:sp>
      <p:sp>
        <p:nvSpPr>
          <p:cNvPr id="23" name="Google Shape;23;p3"/>
          <p:cNvSpPr/>
          <p:nvPr/>
        </p:nvSpPr>
        <p:spPr>
          <a:xfrm>
            <a:off x="777240" y="3246120"/>
            <a:ext cx="10972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B44C"/>
              </a:buClr>
              <a:buSzPts val="5800"/>
              <a:buFont typeface="Calibri"/>
              <a:buNone/>
            </a:pPr>
            <a:r>
              <a:rPr b="1" i="0" lang="en-US" sz="5800" u="none" cap="none" strike="noStrike">
                <a:solidFill>
                  <a:srgbClr val="F5B44C"/>
                </a:solidFill>
                <a:latin typeface="Calibri"/>
                <a:ea typeface="Calibri"/>
                <a:cs typeface="Calibri"/>
                <a:sym typeface="Calibri"/>
              </a:rPr>
              <a:t>Music Player</a:t>
            </a:r>
            <a:endParaRPr b="0" i="0" sz="5800" u="none" cap="none" strike="noStrike">
              <a:solidFill>
                <a:schemeClr val="dk1"/>
              </a:solidFill>
              <a:latin typeface="Calibri"/>
              <a:ea typeface="Calibri"/>
              <a:cs typeface="Calibri"/>
              <a:sym typeface="Calibri"/>
            </a:endParaRPr>
          </a:p>
        </p:txBody>
      </p:sp>
      <p:sp>
        <p:nvSpPr>
          <p:cNvPr id="24" name="Google Shape;24;p3"/>
          <p:cNvSpPr/>
          <p:nvPr/>
        </p:nvSpPr>
        <p:spPr>
          <a:xfrm>
            <a:off x="822960" y="4343400"/>
            <a:ext cx="9875520" cy="7315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A3B4D0"/>
              </a:buClr>
              <a:buSzPts val="1600"/>
              <a:buFont typeface="Calibri"/>
              <a:buNone/>
            </a:pPr>
            <a:r>
              <a:rPr lang="en-US" sz="1600">
                <a:solidFill>
                  <a:srgbClr val="A3B4D0"/>
                </a:solidFill>
                <a:latin typeface="Calibri"/>
                <a:ea typeface="Calibri"/>
                <a:cs typeface="Calibri"/>
                <a:sym typeface="Calibri"/>
              </a:rPr>
              <a:t>S</a:t>
            </a:r>
            <a:r>
              <a:rPr b="0" i="0" lang="en-US" sz="1600" u="none" cap="none" strike="noStrike">
                <a:solidFill>
                  <a:srgbClr val="A3B4D0"/>
                </a:solidFill>
                <a:latin typeface="Calibri"/>
                <a:ea typeface="Calibri"/>
                <a:cs typeface="Calibri"/>
                <a:sym typeface="Calibri"/>
              </a:rPr>
              <a:t>ongs stored on a TM4C123 LaunchPad. Your phone sends a number over Bluetooth Low Energy to pick which one plays on the buzzer.</a:t>
            </a:r>
            <a:endParaRPr b="0" i="0" sz="1600" u="none" cap="none" strike="noStrike">
              <a:solidFill>
                <a:schemeClr val="dk1"/>
              </a:solidFill>
              <a:latin typeface="Calibri"/>
              <a:ea typeface="Calibri"/>
              <a:cs typeface="Calibri"/>
              <a:sym typeface="Calibri"/>
            </a:endParaRPr>
          </a:p>
        </p:txBody>
      </p:sp>
      <p:sp>
        <p:nvSpPr>
          <p:cNvPr id="25" name="Google Shape;25;p3"/>
          <p:cNvSpPr/>
          <p:nvPr/>
        </p:nvSpPr>
        <p:spPr>
          <a:xfrm>
            <a:off x="822960" y="534924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600"/>
              <a:buFont typeface="Calibri"/>
              <a:buNone/>
            </a:pPr>
            <a:r>
              <a:rPr b="1" i="0" lang="en-US" sz="1600" u="none" cap="none" strike="noStrike">
                <a:solidFill>
                  <a:srgbClr val="F4F7FB"/>
                </a:solidFill>
                <a:latin typeface="Calibri"/>
                <a:ea typeface="Calibri"/>
                <a:cs typeface="Calibri"/>
                <a:sym typeface="Calibri"/>
              </a:rPr>
              <a:t>Paul Simbulan</a:t>
            </a:r>
            <a:r>
              <a:rPr b="0" i="0" lang="en-US" sz="1600" u="none" cap="none" strike="noStrike">
                <a:solidFill>
                  <a:srgbClr val="6E82A6"/>
                </a:solidFill>
                <a:latin typeface="Calibri"/>
                <a:ea typeface="Calibri"/>
                <a:cs typeface="Calibri"/>
                <a:sym typeface="Calibri"/>
              </a:rPr>
              <a:t>    &amp;    </a:t>
            </a:r>
            <a:r>
              <a:rPr b="1" i="0" lang="en-US" sz="1600" u="none" cap="none" strike="noStrike">
                <a:solidFill>
                  <a:srgbClr val="F4F7FB"/>
                </a:solidFill>
                <a:latin typeface="Calibri"/>
                <a:ea typeface="Calibri"/>
                <a:cs typeface="Calibri"/>
                <a:sym typeface="Calibri"/>
              </a:rPr>
              <a:t>Kailai Huang</a:t>
            </a:r>
            <a:endParaRPr b="0" i="0" sz="1600" u="none" cap="none" strike="noStrike">
              <a:solidFill>
                <a:schemeClr val="dk1"/>
              </a:solidFill>
              <a:latin typeface="Calibri"/>
              <a:ea typeface="Calibri"/>
              <a:cs typeface="Calibri"/>
              <a:sym typeface="Calibri"/>
            </a:endParaRPr>
          </a:p>
        </p:txBody>
      </p:sp>
      <p:sp>
        <p:nvSpPr>
          <p:cNvPr id="26" name="Google Shape;26;p3"/>
          <p:cNvSpPr/>
          <p:nvPr/>
        </p:nvSpPr>
        <p:spPr>
          <a:xfrm>
            <a:off x="822960" y="576072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2A6"/>
              </a:buClr>
              <a:buSzPts val="1300"/>
              <a:buFont typeface="Calibri"/>
              <a:buNone/>
            </a:pPr>
            <a:r>
              <a:rPr b="0" i="0" lang="en-US" sz="1300" u="none" cap="none" strike="noStrike">
                <a:solidFill>
                  <a:srgbClr val="6E82A6"/>
                </a:solidFill>
                <a:latin typeface="Calibri"/>
                <a:ea typeface="Calibri"/>
                <a:cs typeface="Calibri"/>
                <a:sym typeface="Calibri"/>
              </a:rPr>
              <a:t>Prof. Shahnam Mirzaei, Ph.D.   ·   CSUN   ·   Summer 2026</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30"/>
        </a:solidFill>
      </p:bgPr>
    </p:bg>
    <p:spTree>
      <p:nvGrpSpPr>
        <p:cNvPr id="31" name="Shape 31"/>
        <p:cNvGrpSpPr/>
        <p:nvPr/>
      </p:nvGrpSpPr>
      <p:grpSpPr>
        <a:xfrm>
          <a:off x="0" y="0"/>
          <a:ext cx="0" cy="0"/>
          <a:chOff x="0" y="0"/>
          <a:chExt cx="0" cy="0"/>
        </a:xfrm>
      </p:grpSpPr>
      <p:sp>
        <p:nvSpPr>
          <p:cNvPr id="32" name="Google Shape;32;p4"/>
          <p:cNvSpPr/>
          <p:nvPr/>
        </p:nvSpPr>
        <p:spPr>
          <a:xfrm>
            <a:off x="640080" y="475488"/>
            <a:ext cx="786384" cy="786384"/>
          </a:xfrm>
          <a:prstGeom prst="ellipse">
            <a:avLst/>
          </a:prstGeom>
          <a:solidFill>
            <a:srgbClr val="35D2E8"/>
          </a:solidFill>
          <a:ln>
            <a:noFill/>
          </a:ln>
          <a:effectLst>
            <a:outerShdw blurRad="101600" rotWithShape="0" algn="bl" dir="54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4"/>
          <p:cNvPicPr preferRelativeResize="0"/>
          <p:nvPr/>
        </p:nvPicPr>
        <p:blipFill rotWithShape="1">
          <a:blip r:embed="rId3">
            <a:alphaModFix/>
          </a:blip>
          <a:srcRect b="0" l="0" r="0" t="0"/>
          <a:stretch/>
        </p:blipFill>
        <p:spPr>
          <a:xfrm>
            <a:off x="859536" y="694944"/>
            <a:ext cx="347472" cy="347472"/>
          </a:xfrm>
          <a:prstGeom prst="rect">
            <a:avLst/>
          </a:prstGeom>
          <a:noFill/>
          <a:ln>
            <a:noFill/>
          </a:ln>
        </p:spPr>
      </p:pic>
      <p:sp>
        <p:nvSpPr>
          <p:cNvPr id="34" name="Google Shape;34;p4"/>
          <p:cNvSpPr/>
          <p:nvPr/>
        </p:nvSpPr>
        <p:spPr>
          <a:xfrm>
            <a:off x="1627632" y="502920"/>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200"/>
              <a:buFont typeface="Calibri"/>
              <a:buNone/>
            </a:pPr>
            <a:r>
              <a:rPr b="1" i="0" lang="en-US" sz="1200" u="none" cap="none" strike="noStrike">
                <a:solidFill>
                  <a:srgbClr val="35D2E8"/>
                </a:solidFill>
                <a:latin typeface="Calibri"/>
                <a:ea typeface="Calibri"/>
                <a:cs typeface="Calibri"/>
                <a:sym typeface="Calibri"/>
              </a:rPr>
              <a:t>WHAT IT IS</a:t>
            </a:r>
            <a:endParaRPr b="0" i="0" sz="1200" u="none" cap="none" strike="noStrike">
              <a:solidFill>
                <a:schemeClr val="dk1"/>
              </a:solidFill>
              <a:latin typeface="Calibri"/>
              <a:ea typeface="Calibri"/>
              <a:cs typeface="Calibri"/>
              <a:sym typeface="Calibri"/>
            </a:endParaRPr>
          </a:p>
        </p:txBody>
      </p:sp>
      <p:sp>
        <p:nvSpPr>
          <p:cNvPr id="35" name="Google Shape;35;p4"/>
          <p:cNvSpPr/>
          <p:nvPr/>
        </p:nvSpPr>
        <p:spPr>
          <a:xfrm>
            <a:off x="1600200" y="749808"/>
            <a:ext cx="10241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3000"/>
              <a:buFont typeface="Calibri"/>
              <a:buNone/>
            </a:pPr>
            <a:r>
              <a:rPr b="1" i="0" lang="en-US" sz="3000" u="none" cap="none" strike="noStrike">
                <a:solidFill>
                  <a:srgbClr val="F4F7FB"/>
                </a:solidFill>
                <a:latin typeface="Calibri"/>
                <a:ea typeface="Calibri"/>
                <a:cs typeface="Calibri"/>
                <a:sym typeface="Calibri"/>
              </a:rPr>
              <a:t>Project Overview</a:t>
            </a:r>
            <a:endParaRPr b="0" i="0" sz="3000" u="none" cap="none" strike="noStrike">
              <a:solidFill>
                <a:schemeClr val="dk1"/>
              </a:solidFill>
              <a:latin typeface="Calibri"/>
              <a:ea typeface="Calibri"/>
              <a:cs typeface="Calibri"/>
              <a:sym typeface="Calibri"/>
            </a:endParaRPr>
          </a:p>
        </p:txBody>
      </p:sp>
      <p:sp>
        <p:nvSpPr>
          <p:cNvPr id="36" name="Google Shape;36;p4"/>
          <p:cNvSpPr/>
          <p:nvPr/>
        </p:nvSpPr>
        <p:spPr>
          <a:xfrm>
            <a:off x="685800" y="1828800"/>
            <a:ext cx="5257800" cy="11430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A3B4D0"/>
              </a:buClr>
              <a:buSzPts val="1600"/>
              <a:buFont typeface="Calibri"/>
              <a:buNone/>
            </a:pPr>
            <a:r>
              <a:rPr b="0" i="0" lang="en-US" sz="1600" u="none" cap="none" strike="noStrike">
                <a:solidFill>
                  <a:srgbClr val="A3B4D0"/>
                </a:solidFill>
                <a:latin typeface="Calibri"/>
                <a:ea typeface="Calibri"/>
                <a:cs typeface="Calibri"/>
                <a:sym typeface="Calibri"/>
              </a:rPr>
              <a:t>A wireless music box. The songs live in the microcontroller's memory. You send a single character from your phone over BLE, and the board plays that song on a buzzer. No cable, and no audio streams over the air.</a:t>
            </a:r>
            <a:endParaRPr b="0" i="0" sz="1600" u="none" cap="none" strike="noStrike">
              <a:solidFill>
                <a:schemeClr val="dk1"/>
              </a:solidFill>
              <a:latin typeface="Calibri"/>
              <a:ea typeface="Calibri"/>
              <a:cs typeface="Calibri"/>
              <a:sym typeface="Calibri"/>
            </a:endParaRPr>
          </a:p>
        </p:txBody>
      </p:sp>
      <p:sp>
        <p:nvSpPr>
          <p:cNvPr id="37" name="Google Shape;37;p4"/>
          <p:cNvSpPr/>
          <p:nvPr/>
        </p:nvSpPr>
        <p:spPr>
          <a:xfrm>
            <a:off x="685800" y="3063240"/>
            <a:ext cx="5074920" cy="566928"/>
          </a:xfrm>
          <a:prstGeom prst="roundRect">
            <a:avLst>
              <a:gd fmla="val 14516"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868680" y="3182112"/>
            <a:ext cx="329184" cy="329184"/>
          </a:xfrm>
          <a:prstGeom prst="ellipse">
            <a:avLst/>
          </a:prstGeom>
          <a:solidFill>
            <a:srgbClr val="35D2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868680" y="31821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A30"/>
              </a:buClr>
              <a:buSzPts val="1400"/>
              <a:buFont typeface="Calibri"/>
              <a:buNone/>
            </a:pPr>
            <a:r>
              <a:rPr b="1" i="0" lang="en-US" sz="1400" u="none" cap="none" strike="noStrike">
                <a:solidFill>
                  <a:srgbClr val="0E1A30"/>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40" name="Google Shape;40;p4"/>
          <p:cNvSpPr/>
          <p:nvPr/>
        </p:nvSpPr>
        <p:spPr>
          <a:xfrm>
            <a:off x="1371600" y="3063240"/>
            <a:ext cx="4297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iPhone + LightBlue app</a:t>
            </a:r>
            <a:endParaRPr b="0" i="0" sz="1500" u="none" cap="none" strike="noStrike">
              <a:solidFill>
                <a:schemeClr val="dk1"/>
              </a:solidFill>
              <a:latin typeface="Calibri"/>
              <a:ea typeface="Calibri"/>
              <a:cs typeface="Calibri"/>
              <a:sym typeface="Calibri"/>
            </a:endParaRPr>
          </a:p>
        </p:txBody>
      </p:sp>
      <p:sp>
        <p:nvSpPr>
          <p:cNvPr id="41" name="Google Shape;41;p4"/>
          <p:cNvSpPr/>
          <p:nvPr/>
        </p:nvSpPr>
        <p:spPr>
          <a:xfrm>
            <a:off x="914400" y="3502152"/>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82A6"/>
              </a:buClr>
              <a:buSzPts val="1200"/>
              <a:buFont typeface="Calibri"/>
              <a:buNone/>
            </a:pPr>
            <a:r>
              <a:rPr b="0" i="0" lang="en-US" sz="1200" u="none" cap="none" strike="noStrike">
                <a:solidFill>
                  <a:srgbClr val="6E82A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42" name="Google Shape;42;p4"/>
          <p:cNvSpPr/>
          <p:nvPr/>
        </p:nvSpPr>
        <p:spPr>
          <a:xfrm>
            <a:off x="685800" y="3721608"/>
            <a:ext cx="5074920" cy="566928"/>
          </a:xfrm>
          <a:prstGeom prst="roundRect">
            <a:avLst>
              <a:gd fmla="val 14516"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868680" y="3840480"/>
            <a:ext cx="329184" cy="329184"/>
          </a:xfrm>
          <a:prstGeom prst="ellipse">
            <a:avLst/>
          </a:prstGeom>
          <a:solidFill>
            <a:srgbClr val="35D2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868680" y="384048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A30"/>
              </a:buClr>
              <a:buSzPts val="1400"/>
              <a:buFont typeface="Calibri"/>
              <a:buNone/>
            </a:pPr>
            <a:r>
              <a:rPr b="1" i="0" lang="en-US" sz="1400" u="none" cap="none" strike="noStrike">
                <a:solidFill>
                  <a:srgbClr val="0E1A30"/>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45" name="Google Shape;45;p4"/>
          <p:cNvSpPr/>
          <p:nvPr/>
        </p:nvSpPr>
        <p:spPr>
          <a:xfrm>
            <a:off x="1371600" y="3721608"/>
            <a:ext cx="4297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HM-10 BLE module</a:t>
            </a:r>
            <a:endParaRPr b="0" i="0" sz="1500" u="none" cap="none" strike="noStrike">
              <a:solidFill>
                <a:schemeClr val="dk1"/>
              </a:solidFill>
              <a:latin typeface="Calibri"/>
              <a:ea typeface="Calibri"/>
              <a:cs typeface="Calibri"/>
              <a:sym typeface="Calibri"/>
            </a:endParaRPr>
          </a:p>
        </p:txBody>
      </p:sp>
      <p:sp>
        <p:nvSpPr>
          <p:cNvPr id="46" name="Google Shape;46;p4"/>
          <p:cNvSpPr/>
          <p:nvPr/>
        </p:nvSpPr>
        <p:spPr>
          <a:xfrm>
            <a:off x="914400" y="4160520"/>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82A6"/>
              </a:buClr>
              <a:buSzPts val="1200"/>
              <a:buFont typeface="Calibri"/>
              <a:buNone/>
            </a:pPr>
            <a:r>
              <a:rPr b="0" i="0" lang="en-US" sz="1200" u="none" cap="none" strike="noStrike">
                <a:solidFill>
                  <a:srgbClr val="6E82A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47" name="Google Shape;47;p4"/>
          <p:cNvSpPr/>
          <p:nvPr/>
        </p:nvSpPr>
        <p:spPr>
          <a:xfrm>
            <a:off x="685800" y="4379976"/>
            <a:ext cx="5074920" cy="566928"/>
          </a:xfrm>
          <a:prstGeom prst="roundRect">
            <a:avLst>
              <a:gd fmla="val 14516"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868680" y="4498848"/>
            <a:ext cx="329184" cy="329184"/>
          </a:xfrm>
          <a:prstGeom prst="ellipse">
            <a:avLst/>
          </a:prstGeom>
          <a:solidFill>
            <a:srgbClr val="F5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868680" y="449884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A30"/>
              </a:buClr>
              <a:buSzPts val="1400"/>
              <a:buFont typeface="Calibri"/>
              <a:buNone/>
            </a:pPr>
            <a:r>
              <a:rPr b="1" i="0" lang="en-US" sz="1400" u="none" cap="none" strike="noStrike">
                <a:solidFill>
                  <a:srgbClr val="0E1A30"/>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50" name="Google Shape;50;p4"/>
          <p:cNvSpPr/>
          <p:nvPr/>
        </p:nvSpPr>
        <p:spPr>
          <a:xfrm>
            <a:off x="1371600" y="4379976"/>
            <a:ext cx="4297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TM4C123 (UART + Timer0)</a:t>
            </a:r>
            <a:endParaRPr b="0" i="0" sz="1500" u="none" cap="none" strike="noStrike">
              <a:solidFill>
                <a:schemeClr val="dk1"/>
              </a:solidFill>
              <a:latin typeface="Calibri"/>
              <a:ea typeface="Calibri"/>
              <a:cs typeface="Calibri"/>
              <a:sym typeface="Calibri"/>
            </a:endParaRPr>
          </a:p>
        </p:txBody>
      </p:sp>
      <p:sp>
        <p:nvSpPr>
          <p:cNvPr id="51" name="Google Shape;51;p4"/>
          <p:cNvSpPr/>
          <p:nvPr/>
        </p:nvSpPr>
        <p:spPr>
          <a:xfrm>
            <a:off x="914400" y="4818888"/>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82A6"/>
              </a:buClr>
              <a:buSzPts val="1200"/>
              <a:buFont typeface="Calibri"/>
              <a:buNone/>
            </a:pPr>
            <a:r>
              <a:rPr b="0" i="0" lang="en-US" sz="1200" u="none" cap="none" strike="noStrike">
                <a:solidFill>
                  <a:srgbClr val="6E82A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52" name="Google Shape;52;p4"/>
          <p:cNvSpPr/>
          <p:nvPr/>
        </p:nvSpPr>
        <p:spPr>
          <a:xfrm>
            <a:off x="685800" y="5038344"/>
            <a:ext cx="5074920" cy="566928"/>
          </a:xfrm>
          <a:prstGeom prst="roundRect">
            <a:avLst>
              <a:gd fmla="val 14516"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868680" y="5157216"/>
            <a:ext cx="329184" cy="329184"/>
          </a:xfrm>
          <a:prstGeom prst="ellipse">
            <a:avLst/>
          </a:prstGeom>
          <a:solidFill>
            <a:srgbClr val="F5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868680" y="515721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A30"/>
              </a:buClr>
              <a:buSzPts val="1400"/>
              <a:buFont typeface="Calibri"/>
              <a:buNone/>
            </a:pPr>
            <a:r>
              <a:rPr b="1" i="0" lang="en-US" sz="1400" u="none" cap="none" strike="noStrike">
                <a:solidFill>
                  <a:srgbClr val="0E1A30"/>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55" name="Google Shape;55;p4"/>
          <p:cNvSpPr/>
          <p:nvPr/>
        </p:nvSpPr>
        <p:spPr>
          <a:xfrm>
            <a:off x="1371600" y="5038344"/>
            <a:ext cx="4297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Buzzer plays the stored song</a:t>
            </a:r>
            <a:endParaRPr b="0" i="0" sz="1500" u="none" cap="none" strike="noStrike">
              <a:solidFill>
                <a:schemeClr val="dk1"/>
              </a:solidFill>
              <a:latin typeface="Calibri"/>
              <a:ea typeface="Calibri"/>
              <a:cs typeface="Calibri"/>
              <a:sym typeface="Calibri"/>
            </a:endParaRPr>
          </a:p>
        </p:txBody>
      </p:sp>
      <p:sp>
        <p:nvSpPr>
          <p:cNvPr id="56" name="Google Shape;56;p4"/>
          <p:cNvSpPr/>
          <p:nvPr/>
        </p:nvSpPr>
        <p:spPr>
          <a:xfrm>
            <a:off x="6355080" y="1783080"/>
            <a:ext cx="5166360" cy="3703320"/>
          </a:xfrm>
          <a:prstGeom prst="roundRect">
            <a:avLst>
              <a:gd fmla="val 1728" name="adj"/>
            </a:avLst>
          </a:prstGeom>
          <a:solidFill>
            <a:srgbClr val="F4F7FB"/>
          </a:solidFill>
          <a:ln>
            <a:noFill/>
          </a:ln>
          <a:effectLst>
            <a:outerShdw blurRad="152400" rotWithShape="0" algn="bl" dir="5400000" dist="635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board.jpeg" id="57" name="Google Shape;57;p4"/>
          <p:cNvPicPr preferRelativeResize="0"/>
          <p:nvPr/>
        </p:nvPicPr>
        <p:blipFill rotWithShape="1">
          <a:blip r:embed="rId4">
            <a:alphaModFix/>
          </a:blip>
          <a:srcRect b="0" l="0" r="0" t="0"/>
          <a:stretch/>
        </p:blipFill>
        <p:spPr>
          <a:xfrm>
            <a:off x="6469173" y="1874520"/>
            <a:ext cx="4938174" cy="3520440"/>
          </a:xfrm>
          <a:prstGeom prst="rect">
            <a:avLst/>
          </a:prstGeom>
          <a:noFill/>
          <a:ln>
            <a:noFill/>
          </a:ln>
        </p:spPr>
      </p:pic>
      <p:sp>
        <p:nvSpPr>
          <p:cNvPr id="58" name="Google Shape;58;p4"/>
          <p:cNvSpPr/>
          <p:nvPr/>
        </p:nvSpPr>
        <p:spPr>
          <a:xfrm>
            <a:off x="6355080" y="5559552"/>
            <a:ext cx="51663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82A6"/>
              </a:buClr>
              <a:buSzPts val="1150"/>
              <a:buFont typeface="Calibri"/>
              <a:buNone/>
            </a:pPr>
            <a:r>
              <a:rPr b="0" i="1" lang="en-US" sz="1150" u="none" cap="none" strike="noStrike">
                <a:solidFill>
                  <a:srgbClr val="6E82A6"/>
                </a:solidFill>
                <a:latin typeface="Calibri"/>
                <a:ea typeface="Calibri"/>
                <a:cs typeface="Calibri"/>
                <a:sym typeface="Calibri"/>
              </a:rPr>
              <a:t>Full build: TM4C123 LaunchPad + EduBase trainer, HM-10 wired on the breadboard.</a:t>
            </a:r>
            <a:endParaRPr b="0" i="0" sz="1150" u="none" cap="none" strike="noStrike">
              <a:solidFill>
                <a:schemeClr val="dk1"/>
              </a:solidFill>
              <a:latin typeface="Calibri"/>
              <a:ea typeface="Calibri"/>
              <a:cs typeface="Calibri"/>
              <a:sym typeface="Calibri"/>
            </a:endParaRPr>
          </a:p>
        </p:txBody>
      </p:sp>
      <p:sp>
        <p:nvSpPr>
          <p:cNvPr id="59" name="Google Shape;59;p4"/>
          <p:cNvSpPr/>
          <p:nvPr/>
        </p:nvSpPr>
        <p:spPr>
          <a:xfrm>
            <a:off x="685800" y="5806440"/>
            <a:ext cx="1600200" cy="365760"/>
          </a:xfrm>
          <a:prstGeom prst="roundRect">
            <a:avLst>
              <a:gd fmla="val 22500" name="adj"/>
            </a:avLst>
          </a:prstGeom>
          <a:solidFill>
            <a:srgbClr val="1E3358"/>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731520" y="5806440"/>
            <a:ext cx="1508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2E8"/>
              </a:buClr>
              <a:buSzPts val="1200"/>
              <a:buFont typeface="Calibri"/>
              <a:buNone/>
            </a:pPr>
            <a:r>
              <a:rPr b="1" i="0" lang="en-US" sz="1200" u="none" cap="none" strike="noStrike">
                <a:solidFill>
                  <a:srgbClr val="35D2E8"/>
                </a:solidFill>
                <a:latin typeface="Calibri"/>
                <a:ea typeface="Calibri"/>
                <a:cs typeface="Calibri"/>
                <a:sym typeface="Calibri"/>
              </a:rPr>
              <a:t>BLE 4.0</a:t>
            </a:r>
            <a:endParaRPr b="0" i="0" sz="1200" u="none" cap="none" strike="noStrike">
              <a:solidFill>
                <a:schemeClr val="dk1"/>
              </a:solidFill>
              <a:latin typeface="Calibri"/>
              <a:ea typeface="Calibri"/>
              <a:cs typeface="Calibri"/>
              <a:sym typeface="Calibri"/>
            </a:endParaRPr>
          </a:p>
        </p:txBody>
      </p:sp>
      <p:sp>
        <p:nvSpPr>
          <p:cNvPr id="61" name="Google Shape;61;p4"/>
          <p:cNvSpPr/>
          <p:nvPr/>
        </p:nvSpPr>
        <p:spPr>
          <a:xfrm>
            <a:off x="2377440" y="5806440"/>
            <a:ext cx="1737360" cy="365760"/>
          </a:xfrm>
          <a:prstGeom prst="roundRect">
            <a:avLst>
              <a:gd fmla="val 22500" name="adj"/>
            </a:avLst>
          </a:prstGeom>
          <a:solidFill>
            <a:srgbClr val="1E3358"/>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2423160" y="5806440"/>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2E8"/>
              </a:buClr>
              <a:buSzPts val="1200"/>
              <a:buFont typeface="Calibri"/>
              <a:buNone/>
            </a:pPr>
            <a:r>
              <a:rPr b="1" i="0" lang="en-US" sz="1200" u="none" cap="none" strike="noStrike">
                <a:solidFill>
                  <a:srgbClr val="35D2E8"/>
                </a:solidFill>
                <a:latin typeface="Calibri"/>
                <a:ea typeface="Calibri"/>
                <a:cs typeface="Calibri"/>
                <a:sym typeface="Calibri"/>
              </a:rPr>
              <a:t>UART @ 9600</a:t>
            </a:r>
            <a:endParaRPr b="0" i="0" sz="1200" u="none" cap="none" strike="noStrike">
              <a:solidFill>
                <a:schemeClr val="dk1"/>
              </a:solidFill>
              <a:latin typeface="Calibri"/>
              <a:ea typeface="Calibri"/>
              <a:cs typeface="Calibri"/>
              <a:sym typeface="Calibri"/>
            </a:endParaRPr>
          </a:p>
        </p:txBody>
      </p:sp>
      <p:sp>
        <p:nvSpPr>
          <p:cNvPr id="63" name="Google Shape;63;p4"/>
          <p:cNvSpPr/>
          <p:nvPr/>
        </p:nvSpPr>
        <p:spPr>
          <a:xfrm>
            <a:off x="4206240" y="5806440"/>
            <a:ext cx="1554480" cy="365760"/>
          </a:xfrm>
          <a:prstGeom prst="roundRect">
            <a:avLst>
              <a:gd fmla="val 22500" name="adj"/>
            </a:avLst>
          </a:prstGeom>
          <a:solidFill>
            <a:srgbClr val="1E3358"/>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4251960" y="5806440"/>
            <a:ext cx="1463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B44C"/>
              </a:buClr>
              <a:buSzPts val="1200"/>
              <a:buFont typeface="Calibri"/>
              <a:buNone/>
            </a:pPr>
            <a:r>
              <a:rPr b="1" i="0" lang="en-US" sz="1200" u="none" cap="none" strike="noStrike">
                <a:solidFill>
                  <a:srgbClr val="F5B44C"/>
                </a:solidFill>
                <a:latin typeface="Calibri"/>
                <a:ea typeface="Calibri"/>
                <a:cs typeface="Calibri"/>
                <a:sym typeface="Calibri"/>
              </a:rPr>
              <a:t>10 songs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30"/>
        </a:solidFill>
      </p:bgPr>
    </p:bg>
    <p:spTree>
      <p:nvGrpSpPr>
        <p:cNvPr id="69" name="Shape 69"/>
        <p:cNvGrpSpPr/>
        <p:nvPr/>
      </p:nvGrpSpPr>
      <p:grpSpPr>
        <a:xfrm>
          <a:off x="0" y="0"/>
          <a:ext cx="0" cy="0"/>
          <a:chOff x="0" y="0"/>
          <a:chExt cx="0" cy="0"/>
        </a:xfrm>
      </p:grpSpPr>
      <p:sp>
        <p:nvSpPr>
          <p:cNvPr id="70" name="Google Shape;70;p5"/>
          <p:cNvSpPr/>
          <p:nvPr/>
        </p:nvSpPr>
        <p:spPr>
          <a:xfrm>
            <a:off x="640080" y="475488"/>
            <a:ext cx="786384" cy="786384"/>
          </a:xfrm>
          <a:prstGeom prst="ellipse">
            <a:avLst/>
          </a:prstGeom>
          <a:solidFill>
            <a:srgbClr val="35D2E8"/>
          </a:solidFill>
          <a:ln>
            <a:noFill/>
          </a:ln>
          <a:effectLst>
            <a:outerShdw blurRad="101600" rotWithShape="0" algn="bl" dir="54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 name="Google Shape;71;p5"/>
          <p:cNvPicPr preferRelativeResize="0"/>
          <p:nvPr/>
        </p:nvPicPr>
        <p:blipFill rotWithShape="1">
          <a:blip r:embed="rId3">
            <a:alphaModFix/>
          </a:blip>
          <a:srcRect b="0" l="0" r="0" t="0"/>
          <a:stretch/>
        </p:blipFill>
        <p:spPr>
          <a:xfrm>
            <a:off x="859536" y="694944"/>
            <a:ext cx="347472" cy="347472"/>
          </a:xfrm>
          <a:prstGeom prst="rect">
            <a:avLst/>
          </a:prstGeom>
          <a:noFill/>
          <a:ln>
            <a:noFill/>
          </a:ln>
        </p:spPr>
      </p:pic>
      <p:sp>
        <p:nvSpPr>
          <p:cNvPr id="72" name="Google Shape;72;p5"/>
          <p:cNvSpPr/>
          <p:nvPr/>
        </p:nvSpPr>
        <p:spPr>
          <a:xfrm>
            <a:off x="1627632" y="502920"/>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200"/>
              <a:buFont typeface="Calibri"/>
              <a:buNone/>
            </a:pPr>
            <a:r>
              <a:rPr b="1" i="0" lang="en-US" sz="1200" u="none" cap="none" strike="noStrike">
                <a:solidFill>
                  <a:srgbClr val="35D2E8"/>
                </a:solidFill>
                <a:latin typeface="Calibri"/>
                <a:ea typeface="Calibri"/>
                <a:cs typeface="Calibri"/>
                <a:sym typeface="Calibri"/>
              </a:rPr>
              <a:t>THE WIRELESS LINK</a:t>
            </a:r>
            <a:endParaRPr b="0" i="0" sz="1200" u="none" cap="none" strike="noStrike">
              <a:solidFill>
                <a:schemeClr val="dk1"/>
              </a:solidFill>
              <a:latin typeface="Calibri"/>
              <a:ea typeface="Calibri"/>
              <a:cs typeface="Calibri"/>
              <a:sym typeface="Calibri"/>
            </a:endParaRPr>
          </a:p>
        </p:txBody>
      </p:sp>
      <p:sp>
        <p:nvSpPr>
          <p:cNvPr id="73" name="Google Shape;73;p5"/>
          <p:cNvSpPr/>
          <p:nvPr/>
        </p:nvSpPr>
        <p:spPr>
          <a:xfrm>
            <a:off x="1600200" y="749808"/>
            <a:ext cx="10241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3000"/>
              <a:buFont typeface="Calibri"/>
              <a:buNone/>
            </a:pPr>
            <a:r>
              <a:rPr b="1" i="0" lang="en-US" sz="3000" u="none" cap="none" strike="noStrike">
                <a:solidFill>
                  <a:srgbClr val="F4F7FB"/>
                </a:solidFill>
                <a:latin typeface="Calibri"/>
                <a:ea typeface="Calibri"/>
                <a:cs typeface="Calibri"/>
                <a:sym typeface="Calibri"/>
              </a:rPr>
              <a:t>Bluetooth Low Energy &amp; the App</a:t>
            </a:r>
            <a:endParaRPr b="0" i="0" sz="3000" u="none" cap="none" strike="noStrike">
              <a:solidFill>
                <a:schemeClr val="dk1"/>
              </a:solidFill>
              <a:latin typeface="Calibri"/>
              <a:ea typeface="Calibri"/>
              <a:cs typeface="Calibri"/>
              <a:sym typeface="Calibri"/>
            </a:endParaRPr>
          </a:p>
        </p:txBody>
      </p:sp>
      <p:sp>
        <p:nvSpPr>
          <p:cNvPr id="74" name="Google Shape;74;p5"/>
          <p:cNvSpPr/>
          <p:nvPr/>
        </p:nvSpPr>
        <p:spPr>
          <a:xfrm>
            <a:off x="685800" y="1783080"/>
            <a:ext cx="2743200" cy="1874520"/>
          </a:xfrm>
          <a:prstGeom prst="roundRect">
            <a:avLst>
              <a:gd fmla="val 5854" name="adj"/>
            </a:avLst>
          </a:prstGeom>
          <a:solidFill>
            <a:srgbClr val="141F35"/>
          </a:solidFill>
          <a:ln cap="flat" cmpd="sng" w="12700">
            <a:solidFill>
              <a:srgbClr val="2A3E63"/>
            </a:solidFill>
            <a:prstDash val="solid"/>
            <a:round/>
            <a:headEnd len="sm" w="sm" type="none"/>
            <a:tailEnd len="sm" w="sm" type="none"/>
          </a:ln>
          <a:effectLst>
            <a:outerShdw blurRad="127000" rotWithShape="0" algn="bl" dir="5400000" dist="508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868680" y="1965960"/>
            <a:ext cx="365760" cy="365760"/>
          </a:xfrm>
          <a:prstGeom prst="ellipse">
            <a:avLst/>
          </a:prstGeom>
          <a:solidFill>
            <a:srgbClr val="2A3A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6" name="Google Shape;76;p5"/>
          <p:cNvPicPr preferRelativeResize="0"/>
          <p:nvPr/>
        </p:nvPicPr>
        <p:blipFill rotWithShape="1">
          <a:blip r:embed="rId4">
            <a:alphaModFix/>
          </a:blip>
          <a:srcRect b="0" l="0" r="0" t="0"/>
          <a:stretch/>
        </p:blipFill>
        <p:spPr>
          <a:xfrm>
            <a:off x="969264" y="2066544"/>
            <a:ext cx="164592" cy="164592"/>
          </a:xfrm>
          <a:prstGeom prst="rect">
            <a:avLst/>
          </a:prstGeom>
          <a:noFill/>
          <a:ln>
            <a:noFill/>
          </a:ln>
        </p:spPr>
      </p:pic>
      <p:sp>
        <p:nvSpPr>
          <p:cNvPr id="77" name="Google Shape;77;p5"/>
          <p:cNvSpPr/>
          <p:nvPr/>
        </p:nvSpPr>
        <p:spPr>
          <a:xfrm>
            <a:off x="1371600" y="1956816"/>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2A6"/>
              </a:buClr>
              <a:buSzPts val="1550"/>
              <a:buFont typeface="Calibri"/>
              <a:buNone/>
            </a:pPr>
            <a:r>
              <a:rPr b="1" i="0" lang="en-US" sz="1550" u="none" cap="none" strike="noStrike">
                <a:solidFill>
                  <a:srgbClr val="6E82A6"/>
                </a:solidFill>
                <a:latin typeface="Calibri"/>
                <a:ea typeface="Calibri"/>
                <a:cs typeface="Calibri"/>
                <a:sym typeface="Calibri"/>
              </a:rPr>
              <a:t>Classic Bluetooth</a:t>
            </a:r>
            <a:endParaRPr b="0" i="0" sz="1550" u="none" cap="none" strike="noStrike">
              <a:solidFill>
                <a:schemeClr val="dk1"/>
              </a:solidFill>
              <a:latin typeface="Calibri"/>
              <a:ea typeface="Calibri"/>
              <a:cs typeface="Calibri"/>
              <a:sym typeface="Calibri"/>
            </a:endParaRPr>
          </a:p>
        </p:txBody>
      </p:sp>
      <p:sp>
        <p:nvSpPr>
          <p:cNvPr id="78" name="Google Shape;78;p5"/>
          <p:cNvSpPr/>
          <p:nvPr/>
        </p:nvSpPr>
        <p:spPr>
          <a:xfrm>
            <a:off x="1371600" y="2249424"/>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2A6"/>
              </a:buClr>
              <a:buSzPts val="1100"/>
              <a:buFont typeface="Calibri"/>
              <a:buNone/>
            </a:pPr>
            <a:r>
              <a:rPr b="0" i="0" lang="en-US" sz="1100" u="none" cap="none" strike="noStrike">
                <a:solidFill>
                  <a:srgbClr val="6E82A6"/>
                </a:solidFill>
                <a:latin typeface="Calibri"/>
                <a:ea typeface="Calibri"/>
                <a:cs typeface="Calibri"/>
                <a:sym typeface="Calibri"/>
              </a:rPr>
              <a:t>(2.0 / 5.0)</a:t>
            </a:r>
            <a:endParaRPr b="0" i="0" sz="1100" u="none" cap="none" strike="noStrike">
              <a:solidFill>
                <a:schemeClr val="dk1"/>
              </a:solidFill>
              <a:latin typeface="Calibri"/>
              <a:ea typeface="Calibri"/>
              <a:cs typeface="Calibri"/>
              <a:sym typeface="Calibri"/>
            </a:endParaRPr>
          </a:p>
        </p:txBody>
      </p:sp>
      <p:sp>
        <p:nvSpPr>
          <p:cNvPr id="79" name="Google Shape;79;p5"/>
          <p:cNvSpPr/>
          <p:nvPr/>
        </p:nvSpPr>
        <p:spPr>
          <a:xfrm>
            <a:off x="868680" y="2651760"/>
            <a:ext cx="2377440" cy="7772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Headphones, speakers, cars. Pairs at the phone's OS level, so it shows up in Settings.</a:t>
            </a:r>
            <a:endParaRPr b="0" i="0" sz="1250" u="none" cap="none" strike="noStrike">
              <a:solidFill>
                <a:schemeClr val="dk1"/>
              </a:solidFill>
              <a:latin typeface="Calibri"/>
              <a:ea typeface="Calibri"/>
              <a:cs typeface="Calibri"/>
              <a:sym typeface="Calibri"/>
            </a:endParaRPr>
          </a:p>
        </p:txBody>
      </p:sp>
      <p:sp>
        <p:nvSpPr>
          <p:cNvPr id="80" name="Google Shape;80;p5"/>
          <p:cNvSpPr/>
          <p:nvPr/>
        </p:nvSpPr>
        <p:spPr>
          <a:xfrm>
            <a:off x="868680" y="3291840"/>
            <a:ext cx="2377440" cy="310896"/>
          </a:xfrm>
          <a:prstGeom prst="roundRect">
            <a:avLst>
              <a:gd fmla="val 26471" name="adj"/>
            </a:avLst>
          </a:prstGeom>
          <a:solidFill>
            <a:srgbClr val="0E1A30"/>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914400" y="3291840"/>
            <a:ext cx="228600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82A6"/>
              </a:buClr>
              <a:buSzPts val="1100"/>
              <a:buFont typeface="Calibri"/>
              <a:buNone/>
            </a:pPr>
            <a:r>
              <a:rPr b="1" i="0" lang="en-US" sz="1100" u="none" cap="none" strike="noStrike">
                <a:solidFill>
                  <a:srgbClr val="6E82A6"/>
                </a:solidFill>
                <a:latin typeface="Calibri"/>
                <a:ea typeface="Calibri"/>
                <a:cs typeface="Calibri"/>
                <a:sym typeface="Calibri"/>
              </a:rPr>
              <a:t>Not what we use</a:t>
            </a:r>
            <a:endParaRPr b="0" i="0" sz="1100" u="none" cap="none" strike="noStrike">
              <a:solidFill>
                <a:schemeClr val="dk1"/>
              </a:solidFill>
              <a:latin typeface="Calibri"/>
              <a:ea typeface="Calibri"/>
              <a:cs typeface="Calibri"/>
              <a:sym typeface="Calibri"/>
            </a:endParaRPr>
          </a:p>
        </p:txBody>
      </p:sp>
      <p:sp>
        <p:nvSpPr>
          <p:cNvPr id="82" name="Google Shape;82;p5"/>
          <p:cNvSpPr/>
          <p:nvPr/>
        </p:nvSpPr>
        <p:spPr>
          <a:xfrm>
            <a:off x="3611880" y="1783080"/>
            <a:ext cx="2743200" cy="1874520"/>
          </a:xfrm>
          <a:prstGeom prst="roundRect">
            <a:avLst>
              <a:gd fmla="val 5854" name="adj"/>
            </a:avLst>
          </a:prstGeom>
          <a:solidFill>
            <a:srgbClr val="14283C"/>
          </a:solidFill>
          <a:ln cap="flat" cmpd="sng" w="22225">
            <a:solidFill>
              <a:srgbClr val="35D2E8"/>
            </a:solidFill>
            <a:prstDash val="solid"/>
            <a:round/>
            <a:headEnd len="sm" w="sm" type="none"/>
            <a:tailEnd len="sm" w="sm" type="none"/>
          </a:ln>
          <a:effectLst>
            <a:outerShdw blurRad="127000" rotWithShape="0" algn="bl" dir="5400000" dist="508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3794760" y="1965960"/>
            <a:ext cx="365760" cy="365760"/>
          </a:xfrm>
          <a:prstGeom prst="ellipse">
            <a:avLst/>
          </a:prstGeom>
          <a:solidFill>
            <a:srgbClr val="35D2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4" name="Google Shape;84;p5"/>
          <p:cNvPicPr preferRelativeResize="0"/>
          <p:nvPr/>
        </p:nvPicPr>
        <p:blipFill rotWithShape="1">
          <a:blip r:embed="rId5">
            <a:alphaModFix/>
          </a:blip>
          <a:srcRect b="0" l="0" r="0" t="0"/>
          <a:stretch/>
        </p:blipFill>
        <p:spPr>
          <a:xfrm>
            <a:off x="3895344" y="2066544"/>
            <a:ext cx="164592" cy="164592"/>
          </a:xfrm>
          <a:prstGeom prst="rect">
            <a:avLst/>
          </a:prstGeom>
          <a:noFill/>
          <a:ln>
            <a:noFill/>
          </a:ln>
        </p:spPr>
      </p:pic>
      <p:sp>
        <p:nvSpPr>
          <p:cNvPr id="85" name="Google Shape;85;p5"/>
          <p:cNvSpPr/>
          <p:nvPr/>
        </p:nvSpPr>
        <p:spPr>
          <a:xfrm>
            <a:off x="4297680" y="1956816"/>
            <a:ext cx="1965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500"/>
              <a:buFont typeface="Calibri"/>
              <a:buNone/>
            </a:pPr>
            <a:r>
              <a:rPr b="1" i="0" lang="en-US" sz="1500" u="none" cap="none" strike="noStrike">
                <a:solidFill>
                  <a:srgbClr val="35D2E8"/>
                </a:solidFill>
                <a:latin typeface="Calibri"/>
                <a:ea typeface="Calibri"/>
                <a:cs typeface="Calibri"/>
                <a:sym typeface="Calibri"/>
              </a:rPr>
              <a:t>Bluetooth Low Energy</a:t>
            </a:r>
            <a:endParaRPr b="0" i="0" sz="1500" u="none" cap="none" strike="noStrike">
              <a:solidFill>
                <a:schemeClr val="dk1"/>
              </a:solidFill>
              <a:latin typeface="Calibri"/>
              <a:ea typeface="Calibri"/>
              <a:cs typeface="Calibri"/>
              <a:sym typeface="Calibri"/>
            </a:endParaRPr>
          </a:p>
        </p:txBody>
      </p:sp>
      <p:sp>
        <p:nvSpPr>
          <p:cNvPr id="86" name="Google Shape;86;p5"/>
          <p:cNvSpPr/>
          <p:nvPr/>
        </p:nvSpPr>
        <p:spPr>
          <a:xfrm>
            <a:off x="4297680" y="2249424"/>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100"/>
              <a:buFont typeface="Calibri"/>
              <a:buNone/>
            </a:pPr>
            <a:r>
              <a:rPr b="0" i="0" lang="en-US" sz="1100" u="none" cap="none" strike="noStrike">
                <a:solidFill>
                  <a:srgbClr val="35D2E8"/>
                </a:solidFill>
                <a:latin typeface="Calibri"/>
                <a:ea typeface="Calibri"/>
                <a:cs typeface="Calibri"/>
                <a:sym typeface="Calibri"/>
              </a:rPr>
              <a:t>(BLE)</a:t>
            </a:r>
            <a:endParaRPr b="0" i="0" sz="1100" u="none" cap="none" strike="noStrike">
              <a:solidFill>
                <a:schemeClr val="dk1"/>
              </a:solidFill>
              <a:latin typeface="Calibri"/>
              <a:ea typeface="Calibri"/>
              <a:cs typeface="Calibri"/>
              <a:sym typeface="Calibri"/>
            </a:endParaRPr>
          </a:p>
        </p:txBody>
      </p:sp>
      <p:sp>
        <p:nvSpPr>
          <p:cNvPr id="87" name="Google Shape;87;p5"/>
          <p:cNvSpPr/>
          <p:nvPr/>
        </p:nvSpPr>
        <p:spPr>
          <a:xfrm>
            <a:off x="3794760" y="2651760"/>
            <a:ext cx="2377440" cy="7772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4F7FB"/>
              </a:buClr>
              <a:buSzPts val="1250"/>
              <a:buFont typeface="Calibri"/>
              <a:buNone/>
            </a:pPr>
            <a:r>
              <a:rPr b="0" i="0" lang="en-US" sz="1250" u="none" cap="none" strike="noStrike">
                <a:solidFill>
                  <a:srgbClr val="F4F7FB"/>
                </a:solidFill>
                <a:latin typeface="Calibri"/>
                <a:ea typeface="Calibri"/>
                <a:cs typeface="Calibri"/>
                <a:sym typeface="Calibri"/>
              </a:rPr>
              <a:t>Small, low-power devices like our HM-10. iOS hides these from Settings, so you reach them through an app.</a:t>
            </a:r>
            <a:endParaRPr b="0" i="0" sz="1250" u="none" cap="none" strike="noStrike">
              <a:solidFill>
                <a:schemeClr val="dk1"/>
              </a:solidFill>
              <a:latin typeface="Calibri"/>
              <a:ea typeface="Calibri"/>
              <a:cs typeface="Calibri"/>
              <a:sym typeface="Calibri"/>
            </a:endParaRPr>
          </a:p>
        </p:txBody>
      </p:sp>
      <p:sp>
        <p:nvSpPr>
          <p:cNvPr id="88" name="Google Shape;88;p5"/>
          <p:cNvSpPr/>
          <p:nvPr/>
        </p:nvSpPr>
        <p:spPr>
          <a:xfrm>
            <a:off x="3794760" y="3291840"/>
            <a:ext cx="2377440" cy="310896"/>
          </a:xfrm>
          <a:prstGeom prst="roundRect">
            <a:avLst>
              <a:gd fmla="val 26471" name="adj"/>
            </a:avLst>
          </a:prstGeom>
          <a:solidFill>
            <a:srgbClr val="0E1A30"/>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3840480" y="3291840"/>
            <a:ext cx="228600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2E8"/>
              </a:buClr>
              <a:buSzPts val="1100"/>
              <a:buFont typeface="Calibri"/>
              <a:buNone/>
            </a:pPr>
            <a:r>
              <a:rPr b="1" i="0" lang="en-US" sz="1100" u="none" cap="none" strike="noStrike">
                <a:solidFill>
                  <a:srgbClr val="35D2E8"/>
                </a:solidFill>
                <a:latin typeface="Calibri"/>
                <a:ea typeface="Calibri"/>
                <a:cs typeface="Calibri"/>
                <a:sym typeface="Calibri"/>
              </a:rPr>
              <a:t>What the HM-10 uses</a:t>
            </a:r>
            <a:endParaRPr b="0" i="0" sz="1100" u="none" cap="none" strike="noStrike">
              <a:solidFill>
                <a:schemeClr val="dk1"/>
              </a:solidFill>
              <a:latin typeface="Calibri"/>
              <a:ea typeface="Calibri"/>
              <a:cs typeface="Calibri"/>
              <a:sym typeface="Calibri"/>
            </a:endParaRPr>
          </a:p>
        </p:txBody>
      </p:sp>
      <p:sp>
        <p:nvSpPr>
          <p:cNvPr id="90" name="Google Shape;90;p5"/>
          <p:cNvSpPr/>
          <p:nvPr/>
        </p:nvSpPr>
        <p:spPr>
          <a:xfrm>
            <a:off x="685800" y="3977640"/>
            <a:ext cx="5669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B44C"/>
              </a:buClr>
              <a:buSzPts val="1600"/>
              <a:buFont typeface="Calibri"/>
              <a:buNone/>
            </a:pPr>
            <a:r>
              <a:rPr b="1" i="0" lang="en-US" sz="1600" u="none" cap="none" strike="noStrike">
                <a:solidFill>
                  <a:srgbClr val="F5B44C"/>
                </a:solidFill>
                <a:latin typeface="Calibri"/>
                <a:ea typeface="Calibri"/>
                <a:cs typeface="Calibri"/>
                <a:sym typeface="Calibri"/>
              </a:rPr>
              <a:t>Sending a command in LightBlue</a:t>
            </a:r>
            <a:endParaRPr b="0" i="0" sz="1600" u="none" cap="none" strike="noStrike">
              <a:solidFill>
                <a:schemeClr val="dk1"/>
              </a:solidFill>
              <a:latin typeface="Calibri"/>
              <a:ea typeface="Calibri"/>
              <a:cs typeface="Calibri"/>
              <a:sym typeface="Calibri"/>
            </a:endParaRPr>
          </a:p>
        </p:txBody>
      </p:sp>
      <p:sp>
        <p:nvSpPr>
          <p:cNvPr id="91" name="Google Shape;91;p5"/>
          <p:cNvSpPr/>
          <p:nvPr/>
        </p:nvSpPr>
        <p:spPr>
          <a:xfrm>
            <a:off x="731520" y="4453128"/>
            <a:ext cx="402336" cy="402336"/>
          </a:xfrm>
          <a:prstGeom prst="ellipse">
            <a:avLst/>
          </a:prstGeom>
          <a:solidFill>
            <a:srgbClr val="35D2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731520" y="445312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A30"/>
              </a:buClr>
              <a:buSzPts val="1500"/>
              <a:buFont typeface="Calibri"/>
              <a:buNone/>
            </a:pPr>
            <a:r>
              <a:rPr b="1" i="0" lang="en-US" sz="1500" u="none" cap="none" strike="noStrike">
                <a:solidFill>
                  <a:srgbClr val="0E1A30"/>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93" name="Google Shape;93;p5"/>
          <p:cNvSpPr/>
          <p:nvPr/>
        </p:nvSpPr>
        <p:spPr>
          <a:xfrm>
            <a:off x="1298448" y="4434840"/>
            <a:ext cx="5029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350"/>
              <a:buFont typeface="Calibri"/>
              <a:buNone/>
            </a:pPr>
            <a:r>
              <a:rPr b="1" i="0" lang="en-US" sz="1350" u="none" cap="none" strike="noStrike">
                <a:solidFill>
                  <a:srgbClr val="F4F7FB"/>
                </a:solidFill>
                <a:latin typeface="Calibri"/>
                <a:ea typeface="Calibri"/>
                <a:cs typeface="Calibri"/>
                <a:sym typeface="Calibri"/>
              </a:rPr>
              <a:t>Scan &amp; connect   </a:t>
            </a:r>
            <a:r>
              <a:rPr b="0" i="0" lang="en-US" sz="1350" u="none" cap="none" strike="noStrike">
                <a:solidFill>
                  <a:srgbClr val="A3B4D0"/>
                </a:solidFill>
                <a:latin typeface="Calibri"/>
                <a:ea typeface="Calibri"/>
                <a:cs typeface="Calibri"/>
                <a:sym typeface="Calibri"/>
              </a:rPr>
              <a:t>Find the peripheral named “DSD TECH” and connect.</a:t>
            </a:r>
            <a:endParaRPr b="0" i="0" sz="1350" u="none" cap="none" strike="noStrike">
              <a:solidFill>
                <a:schemeClr val="dk1"/>
              </a:solidFill>
              <a:latin typeface="Calibri"/>
              <a:ea typeface="Calibri"/>
              <a:cs typeface="Calibri"/>
              <a:sym typeface="Calibri"/>
            </a:endParaRPr>
          </a:p>
        </p:txBody>
      </p:sp>
      <p:sp>
        <p:nvSpPr>
          <p:cNvPr id="94" name="Google Shape;94;p5"/>
          <p:cNvSpPr/>
          <p:nvPr/>
        </p:nvSpPr>
        <p:spPr>
          <a:xfrm>
            <a:off x="731520" y="5038344"/>
            <a:ext cx="402336" cy="402336"/>
          </a:xfrm>
          <a:prstGeom prst="ellipse">
            <a:avLst/>
          </a:prstGeom>
          <a:solidFill>
            <a:srgbClr val="F5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731520" y="503834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A30"/>
              </a:buClr>
              <a:buSzPts val="1500"/>
              <a:buFont typeface="Calibri"/>
              <a:buNone/>
            </a:pPr>
            <a:r>
              <a:rPr b="1" i="0" lang="en-US" sz="1500" u="none" cap="none" strike="noStrike">
                <a:solidFill>
                  <a:srgbClr val="0E1A30"/>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96" name="Google Shape;96;p5"/>
          <p:cNvSpPr/>
          <p:nvPr/>
        </p:nvSpPr>
        <p:spPr>
          <a:xfrm>
            <a:off x="1298448" y="5020056"/>
            <a:ext cx="5029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350"/>
              <a:buFont typeface="Calibri"/>
              <a:buNone/>
            </a:pPr>
            <a:r>
              <a:rPr b="1" i="0" lang="en-US" sz="1350" u="none" cap="none" strike="noStrike">
                <a:solidFill>
                  <a:srgbClr val="F4F7FB"/>
                </a:solidFill>
                <a:latin typeface="Calibri"/>
                <a:ea typeface="Calibri"/>
                <a:cs typeface="Calibri"/>
                <a:sym typeface="Calibri"/>
              </a:rPr>
              <a:t>Set the format   </a:t>
            </a:r>
            <a:r>
              <a:rPr b="0" i="0" lang="en-US" sz="1350" u="none" cap="none" strike="noStrike">
                <a:solidFill>
                  <a:srgbClr val="A3B4D0"/>
                </a:solidFill>
                <a:latin typeface="Calibri"/>
                <a:ea typeface="Calibri"/>
                <a:cs typeface="Calibri"/>
                <a:sym typeface="Calibri"/>
              </a:rPr>
              <a:t>Change the write type to  UTF-8 String.</a:t>
            </a:r>
            <a:endParaRPr b="0" i="0" sz="1350" u="none" cap="none" strike="noStrike">
              <a:solidFill>
                <a:schemeClr val="dk1"/>
              </a:solidFill>
              <a:latin typeface="Calibri"/>
              <a:ea typeface="Calibri"/>
              <a:cs typeface="Calibri"/>
              <a:sym typeface="Calibri"/>
            </a:endParaRPr>
          </a:p>
        </p:txBody>
      </p:sp>
      <p:sp>
        <p:nvSpPr>
          <p:cNvPr id="97" name="Google Shape;97;p5"/>
          <p:cNvSpPr/>
          <p:nvPr/>
        </p:nvSpPr>
        <p:spPr>
          <a:xfrm>
            <a:off x="731520" y="5623560"/>
            <a:ext cx="402336" cy="402336"/>
          </a:xfrm>
          <a:prstGeom prst="ellipse">
            <a:avLst/>
          </a:prstGeom>
          <a:solidFill>
            <a:srgbClr val="F5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731520" y="56235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A30"/>
              </a:buClr>
              <a:buSzPts val="1500"/>
              <a:buFont typeface="Calibri"/>
              <a:buNone/>
            </a:pPr>
            <a:r>
              <a:rPr b="1" i="0" lang="en-US" sz="1500" u="none" cap="none" strike="noStrike">
                <a:solidFill>
                  <a:srgbClr val="0E1A30"/>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99" name="Google Shape;99;p5"/>
          <p:cNvSpPr/>
          <p:nvPr/>
        </p:nvSpPr>
        <p:spPr>
          <a:xfrm>
            <a:off x="1298448" y="5605272"/>
            <a:ext cx="5029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350"/>
              <a:buFont typeface="Calibri"/>
              <a:buNone/>
            </a:pPr>
            <a:r>
              <a:rPr b="1" i="0" lang="en-US" sz="1350" u="none" cap="none" strike="noStrike">
                <a:solidFill>
                  <a:srgbClr val="F4F7FB"/>
                </a:solidFill>
                <a:latin typeface="Calibri"/>
                <a:ea typeface="Calibri"/>
                <a:cs typeface="Calibri"/>
                <a:sym typeface="Calibri"/>
              </a:rPr>
              <a:t>Send   </a:t>
            </a:r>
            <a:r>
              <a:rPr b="0" i="0" lang="en-US" sz="1350" u="none" cap="none" strike="noStrike">
                <a:solidFill>
                  <a:srgbClr val="A3B4D0"/>
                </a:solidFill>
                <a:latin typeface="Calibri"/>
                <a:ea typeface="Calibri"/>
                <a:cs typeface="Calibri"/>
                <a:sym typeface="Calibri"/>
              </a:rPr>
              <a:t>Type a digit like  “1”  and press Write.</a:t>
            </a:r>
            <a:endParaRPr b="0" i="0" sz="1350" u="none" cap="none" strike="noStrike">
              <a:solidFill>
                <a:schemeClr val="dk1"/>
              </a:solidFill>
              <a:latin typeface="Calibri"/>
              <a:ea typeface="Calibri"/>
              <a:cs typeface="Calibri"/>
              <a:sym typeface="Calibri"/>
            </a:endParaRPr>
          </a:p>
        </p:txBody>
      </p:sp>
      <p:sp>
        <p:nvSpPr>
          <p:cNvPr id="100" name="Google Shape;100;p5"/>
          <p:cNvSpPr/>
          <p:nvPr/>
        </p:nvSpPr>
        <p:spPr>
          <a:xfrm>
            <a:off x="6720840" y="1783080"/>
            <a:ext cx="2331720" cy="4160520"/>
          </a:xfrm>
          <a:prstGeom prst="roundRect">
            <a:avLst>
              <a:gd fmla="val 2745" name="adj"/>
            </a:avLst>
          </a:prstGeom>
          <a:solidFill>
            <a:srgbClr val="F4F7FB"/>
          </a:solidFill>
          <a:ln>
            <a:noFill/>
          </a:ln>
          <a:effectLst>
            <a:outerShdw blurRad="152400" rotWithShape="0" algn="bl" dir="5400000" dist="635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find.jpeg" id="101" name="Google Shape;101;p5"/>
          <p:cNvPicPr preferRelativeResize="0"/>
          <p:nvPr/>
        </p:nvPicPr>
        <p:blipFill rotWithShape="1">
          <a:blip r:embed="rId6">
            <a:alphaModFix/>
          </a:blip>
          <a:srcRect b="0" l="0" r="0" t="0"/>
          <a:stretch/>
        </p:blipFill>
        <p:spPr>
          <a:xfrm>
            <a:off x="6907652" y="1874520"/>
            <a:ext cx="1958095" cy="3977640"/>
          </a:xfrm>
          <a:prstGeom prst="rect">
            <a:avLst/>
          </a:prstGeom>
          <a:noFill/>
          <a:ln>
            <a:noFill/>
          </a:ln>
        </p:spPr>
      </p:pic>
      <p:sp>
        <p:nvSpPr>
          <p:cNvPr id="102" name="Google Shape;102;p5"/>
          <p:cNvSpPr/>
          <p:nvPr/>
        </p:nvSpPr>
        <p:spPr>
          <a:xfrm>
            <a:off x="9189720" y="1783080"/>
            <a:ext cx="2331720" cy="4160520"/>
          </a:xfrm>
          <a:prstGeom prst="roundRect">
            <a:avLst>
              <a:gd fmla="val 2745" name="adj"/>
            </a:avLst>
          </a:prstGeom>
          <a:solidFill>
            <a:srgbClr val="F4F7FB"/>
          </a:solidFill>
          <a:ln>
            <a:noFill/>
          </a:ln>
          <a:effectLst>
            <a:outerShdw blurRad="152400" rotWithShape="0" algn="bl" dir="5400000" dist="635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send.jpeg" id="103" name="Google Shape;103;p5"/>
          <p:cNvPicPr preferRelativeResize="0"/>
          <p:nvPr/>
        </p:nvPicPr>
        <p:blipFill rotWithShape="1">
          <a:blip r:embed="rId7">
            <a:alphaModFix/>
          </a:blip>
          <a:srcRect b="0" l="0" r="0" t="0"/>
          <a:stretch/>
        </p:blipFill>
        <p:spPr>
          <a:xfrm>
            <a:off x="9395376" y="1874520"/>
            <a:ext cx="1920409" cy="3977640"/>
          </a:xfrm>
          <a:prstGeom prst="rect">
            <a:avLst/>
          </a:prstGeom>
          <a:noFill/>
          <a:ln>
            <a:noFill/>
          </a:ln>
        </p:spPr>
      </p:pic>
      <p:sp>
        <p:nvSpPr>
          <p:cNvPr id="104" name="Google Shape;104;p5"/>
          <p:cNvSpPr/>
          <p:nvPr/>
        </p:nvSpPr>
        <p:spPr>
          <a:xfrm>
            <a:off x="6720840" y="5989320"/>
            <a:ext cx="2331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82A6"/>
              </a:buClr>
              <a:buSzPts val="1150"/>
              <a:buFont typeface="Calibri"/>
              <a:buNone/>
            </a:pPr>
            <a:r>
              <a:rPr b="0" i="1" lang="en-US" sz="1150" u="none" cap="none" strike="noStrike">
                <a:solidFill>
                  <a:srgbClr val="6E82A6"/>
                </a:solidFill>
                <a:latin typeface="Calibri"/>
                <a:ea typeface="Calibri"/>
                <a:cs typeface="Calibri"/>
                <a:sym typeface="Calibri"/>
              </a:rPr>
              <a:t>Find &amp; connect</a:t>
            </a:r>
            <a:endParaRPr b="0" i="0" sz="1150" u="none" cap="none" strike="noStrike">
              <a:solidFill>
                <a:schemeClr val="dk1"/>
              </a:solidFill>
              <a:latin typeface="Calibri"/>
              <a:ea typeface="Calibri"/>
              <a:cs typeface="Calibri"/>
              <a:sym typeface="Calibri"/>
            </a:endParaRPr>
          </a:p>
        </p:txBody>
      </p:sp>
      <p:sp>
        <p:nvSpPr>
          <p:cNvPr id="105" name="Google Shape;105;p5"/>
          <p:cNvSpPr/>
          <p:nvPr/>
        </p:nvSpPr>
        <p:spPr>
          <a:xfrm>
            <a:off x="9189720" y="5989320"/>
            <a:ext cx="2331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82A6"/>
              </a:buClr>
              <a:buSzPts val="1150"/>
              <a:buFont typeface="Calibri"/>
              <a:buNone/>
            </a:pPr>
            <a:r>
              <a:rPr b="0" i="1" lang="en-US" sz="1150" u="none" cap="none" strike="noStrike">
                <a:solidFill>
                  <a:srgbClr val="6E82A6"/>
                </a:solidFill>
                <a:latin typeface="Calibri"/>
                <a:ea typeface="Calibri"/>
                <a:cs typeface="Calibri"/>
                <a:sym typeface="Calibri"/>
              </a:rPr>
              <a:t>Write “1” as UTF-8</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30"/>
        </a:solidFill>
      </p:bgPr>
    </p:bg>
    <p:spTree>
      <p:nvGrpSpPr>
        <p:cNvPr id="110" name="Shape 110"/>
        <p:cNvGrpSpPr/>
        <p:nvPr/>
      </p:nvGrpSpPr>
      <p:grpSpPr>
        <a:xfrm>
          <a:off x="0" y="0"/>
          <a:ext cx="0" cy="0"/>
          <a:chOff x="0" y="0"/>
          <a:chExt cx="0" cy="0"/>
        </a:xfrm>
      </p:grpSpPr>
      <p:sp>
        <p:nvSpPr>
          <p:cNvPr id="111" name="Google Shape;111;p6"/>
          <p:cNvSpPr/>
          <p:nvPr/>
        </p:nvSpPr>
        <p:spPr>
          <a:xfrm>
            <a:off x="640080" y="475488"/>
            <a:ext cx="786384" cy="786384"/>
          </a:xfrm>
          <a:prstGeom prst="ellipse">
            <a:avLst/>
          </a:prstGeom>
          <a:solidFill>
            <a:srgbClr val="35D2E8"/>
          </a:solidFill>
          <a:ln>
            <a:noFill/>
          </a:ln>
          <a:effectLst>
            <a:outerShdw blurRad="101600" rotWithShape="0" algn="bl" dir="54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 name="Google Shape;112;p6"/>
          <p:cNvPicPr preferRelativeResize="0"/>
          <p:nvPr/>
        </p:nvPicPr>
        <p:blipFill rotWithShape="1">
          <a:blip r:embed="rId3">
            <a:alphaModFix/>
          </a:blip>
          <a:srcRect b="0" l="0" r="0" t="0"/>
          <a:stretch/>
        </p:blipFill>
        <p:spPr>
          <a:xfrm>
            <a:off x="859536" y="694944"/>
            <a:ext cx="347472" cy="347472"/>
          </a:xfrm>
          <a:prstGeom prst="rect">
            <a:avLst/>
          </a:prstGeom>
          <a:noFill/>
          <a:ln>
            <a:noFill/>
          </a:ln>
        </p:spPr>
      </p:pic>
      <p:sp>
        <p:nvSpPr>
          <p:cNvPr id="113" name="Google Shape;113;p6"/>
          <p:cNvSpPr/>
          <p:nvPr/>
        </p:nvSpPr>
        <p:spPr>
          <a:xfrm>
            <a:off x="1627632" y="502920"/>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200"/>
              <a:buFont typeface="Calibri"/>
              <a:buNone/>
            </a:pPr>
            <a:r>
              <a:rPr b="1" i="0" lang="en-US" sz="1200" u="none" cap="none" strike="noStrike">
                <a:solidFill>
                  <a:srgbClr val="35D2E8"/>
                </a:solidFill>
                <a:latin typeface="Calibri"/>
                <a:ea typeface="Calibri"/>
                <a:cs typeface="Calibri"/>
                <a:sym typeface="Calibri"/>
              </a:rPr>
              <a:t>BLE-TO-UART BRIDGE</a:t>
            </a:r>
            <a:endParaRPr b="0" i="0" sz="1200" u="none" cap="none" strike="noStrike">
              <a:solidFill>
                <a:schemeClr val="dk1"/>
              </a:solidFill>
              <a:latin typeface="Calibri"/>
              <a:ea typeface="Calibri"/>
              <a:cs typeface="Calibri"/>
              <a:sym typeface="Calibri"/>
            </a:endParaRPr>
          </a:p>
        </p:txBody>
      </p:sp>
      <p:sp>
        <p:nvSpPr>
          <p:cNvPr id="114" name="Google Shape;114;p6"/>
          <p:cNvSpPr/>
          <p:nvPr/>
        </p:nvSpPr>
        <p:spPr>
          <a:xfrm>
            <a:off x="1600200" y="749808"/>
            <a:ext cx="10241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3000"/>
              <a:buFont typeface="Calibri"/>
              <a:buNone/>
            </a:pPr>
            <a:r>
              <a:rPr b="1" i="0" lang="en-US" sz="3000" u="none" cap="none" strike="noStrike">
                <a:solidFill>
                  <a:srgbClr val="F4F7FB"/>
                </a:solidFill>
                <a:latin typeface="Calibri"/>
                <a:ea typeface="Calibri"/>
                <a:cs typeface="Calibri"/>
                <a:sym typeface="Calibri"/>
              </a:rPr>
              <a:t>The HM-10 Module</a:t>
            </a:r>
            <a:endParaRPr b="0" i="0" sz="3000" u="none" cap="none" strike="noStrike">
              <a:solidFill>
                <a:schemeClr val="dk1"/>
              </a:solidFill>
              <a:latin typeface="Calibri"/>
              <a:ea typeface="Calibri"/>
              <a:cs typeface="Calibri"/>
              <a:sym typeface="Calibri"/>
            </a:endParaRPr>
          </a:p>
        </p:txBody>
      </p:sp>
      <p:sp>
        <p:nvSpPr>
          <p:cNvPr id="115" name="Google Shape;115;p6"/>
          <p:cNvSpPr/>
          <p:nvPr/>
        </p:nvSpPr>
        <p:spPr>
          <a:xfrm>
            <a:off x="685800" y="1783080"/>
            <a:ext cx="3749040" cy="2148840"/>
          </a:xfrm>
          <a:prstGeom prst="roundRect">
            <a:avLst>
              <a:gd fmla="val 2979" name="adj"/>
            </a:avLst>
          </a:prstGeom>
          <a:solidFill>
            <a:srgbClr val="F4F7FB"/>
          </a:solidFill>
          <a:ln>
            <a:noFill/>
          </a:ln>
          <a:effectLst>
            <a:outerShdw blurRad="152400" rotWithShape="0" algn="bl" dir="5400000" dist="635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hm10.png" id="116" name="Google Shape;116;p6"/>
          <p:cNvPicPr preferRelativeResize="0"/>
          <p:nvPr/>
        </p:nvPicPr>
        <p:blipFill rotWithShape="1">
          <a:blip r:embed="rId4">
            <a:alphaModFix/>
          </a:blip>
          <a:srcRect b="0" l="0" r="0" t="0"/>
          <a:stretch/>
        </p:blipFill>
        <p:spPr>
          <a:xfrm>
            <a:off x="1443297" y="1874520"/>
            <a:ext cx="2234045" cy="1965960"/>
          </a:xfrm>
          <a:prstGeom prst="rect">
            <a:avLst/>
          </a:prstGeom>
          <a:noFill/>
          <a:ln>
            <a:noFill/>
          </a:ln>
        </p:spPr>
      </p:pic>
      <p:sp>
        <p:nvSpPr>
          <p:cNvPr id="117" name="Google Shape;117;p6"/>
          <p:cNvSpPr/>
          <p:nvPr/>
        </p:nvSpPr>
        <p:spPr>
          <a:xfrm>
            <a:off x="685800" y="4069080"/>
            <a:ext cx="3749040" cy="1965960"/>
          </a:xfrm>
          <a:prstGeom prst="roundRect">
            <a:avLst>
              <a:gd fmla="val 3256" name="adj"/>
            </a:avLst>
          </a:prstGeom>
          <a:solidFill>
            <a:srgbClr val="F4F7FB"/>
          </a:solidFill>
          <a:ln>
            <a:noFill/>
          </a:ln>
          <a:effectLst>
            <a:outerShdw blurRad="152400" rotWithShape="0" algn="bl" dir="5400000" dist="635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pinout.png" id="118" name="Google Shape;118;p6"/>
          <p:cNvPicPr preferRelativeResize="0"/>
          <p:nvPr/>
        </p:nvPicPr>
        <p:blipFill rotWithShape="1">
          <a:blip r:embed="rId5">
            <a:alphaModFix/>
          </a:blip>
          <a:srcRect b="0" l="0" r="0" t="0"/>
          <a:stretch/>
        </p:blipFill>
        <p:spPr>
          <a:xfrm>
            <a:off x="1104306" y="4160520"/>
            <a:ext cx="2912027" cy="1783080"/>
          </a:xfrm>
          <a:prstGeom prst="rect">
            <a:avLst/>
          </a:prstGeom>
          <a:noFill/>
          <a:ln>
            <a:noFill/>
          </a:ln>
        </p:spPr>
      </p:pic>
      <p:sp>
        <p:nvSpPr>
          <p:cNvPr id="119" name="Google Shape;119;p6"/>
          <p:cNvSpPr/>
          <p:nvPr/>
        </p:nvSpPr>
        <p:spPr>
          <a:xfrm>
            <a:off x="4754880" y="1828800"/>
            <a:ext cx="6766560" cy="749808"/>
          </a:xfrm>
          <a:prstGeom prst="roundRect">
            <a:avLst>
              <a:gd fmla="val 12195"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4956048" y="2011680"/>
            <a:ext cx="384048" cy="384048"/>
          </a:xfrm>
          <a:prstGeom prst="ellipse">
            <a:avLst/>
          </a:prstGeom>
          <a:solidFill>
            <a:srgbClr val="1E3358"/>
          </a:solidFill>
          <a:ln cap="flat" cmpd="sng" w="15875">
            <a:solidFill>
              <a:srgbClr val="35D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1" name="Google Shape;121;p6"/>
          <p:cNvPicPr preferRelativeResize="0"/>
          <p:nvPr/>
        </p:nvPicPr>
        <p:blipFill rotWithShape="1">
          <a:blip r:embed="rId6">
            <a:alphaModFix/>
          </a:blip>
          <a:srcRect b="0" l="0" r="0" t="0"/>
          <a:stretch/>
        </p:blipFill>
        <p:spPr>
          <a:xfrm>
            <a:off x="5056632" y="2112264"/>
            <a:ext cx="182880" cy="182880"/>
          </a:xfrm>
          <a:prstGeom prst="rect">
            <a:avLst/>
          </a:prstGeom>
          <a:noFill/>
          <a:ln>
            <a:noFill/>
          </a:ln>
        </p:spPr>
      </p:pic>
      <p:sp>
        <p:nvSpPr>
          <p:cNvPr id="122" name="Google Shape;122;p6"/>
          <p:cNvSpPr/>
          <p:nvPr/>
        </p:nvSpPr>
        <p:spPr>
          <a:xfrm>
            <a:off x="5532120" y="1920240"/>
            <a:ext cx="5852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TI CC2541</a:t>
            </a:r>
            <a:endParaRPr b="0" i="0" sz="1500" u="none" cap="none" strike="noStrike">
              <a:solidFill>
                <a:schemeClr val="dk1"/>
              </a:solidFill>
              <a:latin typeface="Calibri"/>
              <a:ea typeface="Calibri"/>
              <a:cs typeface="Calibri"/>
              <a:sym typeface="Calibri"/>
            </a:endParaRPr>
          </a:p>
        </p:txBody>
      </p:sp>
      <p:sp>
        <p:nvSpPr>
          <p:cNvPr id="123" name="Google Shape;123;p6"/>
          <p:cNvSpPr/>
          <p:nvPr/>
        </p:nvSpPr>
        <p:spPr>
          <a:xfrm>
            <a:off x="5532120" y="2212848"/>
            <a:ext cx="5852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B4D0"/>
              </a:buClr>
              <a:buSzPts val="1200"/>
              <a:buFont typeface="Calibri"/>
              <a:buNone/>
            </a:pPr>
            <a:r>
              <a:rPr b="0" i="0" lang="en-US" sz="1200" u="none" cap="none" strike="noStrike">
                <a:solidFill>
                  <a:srgbClr val="A3B4D0"/>
                </a:solidFill>
                <a:latin typeface="Calibri"/>
                <a:ea typeface="Calibri"/>
                <a:cs typeface="Calibri"/>
                <a:sym typeface="Calibri"/>
              </a:rPr>
              <a:t>Bluetooth 4.0 BLE System-on-Chip</a:t>
            </a:r>
            <a:endParaRPr b="0" i="0" sz="1200" u="none" cap="none" strike="noStrike">
              <a:solidFill>
                <a:schemeClr val="dk1"/>
              </a:solidFill>
              <a:latin typeface="Calibri"/>
              <a:ea typeface="Calibri"/>
              <a:cs typeface="Calibri"/>
              <a:sym typeface="Calibri"/>
            </a:endParaRPr>
          </a:p>
        </p:txBody>
      </p:sp>
      <p:sp>
        <p:nvSpPr>
          <p:cNvPr id="124" name="Google Shape;124;p6"/>
          <p:cNvSpPr/>
          <p:nvPr/>
        </p:nvSpPr>
        <p:spPr>
          <a:xfrm>
            <a:off x="4754880" y="2688336"/>
            <a:ext cx="6766560" cy="749808"/>
          </a:xfrm>
          <a:prstGeom prst="roundRect">
            <a:avLst>
              <a:gd fmla="val 12195"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p:nvPr/>
        </p:nvSpPr>
        <p:spPr>
          <a:xfrm>
            <a:off x="4956048" y="2871216"/>
            <a:ext cx="384048" cy="384048"/>
          </a:xfrm>
          <a:prstGeom prst="ellipse">
            <a:avLst/>
          </a:prstGeom>
          <a:solidFill>
            <a:srgbClr val="1E3358"/>
          </a:solidFill>
          <a:ln cap="flat" cmpd="sng" w="15875">
            <a:solidFill>
              <a:srgbClr val="35D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6" name="Google Shape;126;p6"/>
          <p:cNvPicPr preferRelativeResize="0"/>
          <p:nvPr/>
        </p:nvPicPr>
        <p:blipFill rotWithShape="1">
          <a:blip r:embed="rId7">
            <a:alphaModFix/>
          </a:blip>
          <a:srcRect b="0" l="0" r="0" t="0"/>
          <a:stretch/>
        </p:blipFill>
        <p:spPr>
          <a:xfrm>
            <a:off x="5056632" y="2971800"/>
            <a:ext cx="182880" cy="182880"/>
          </a:xfrm>
          <a:prstGeom prst="rect">
            <a:avLst/>
          </a:prstGeom>
          <a:noFill/>
          <a:ln>
            <a:noFill/>
          </a:ln>
        </p:spPr>
      </p:pic>
      <p:sp>
        <p:nvSpPr>
          <p:cNvPr id="127" name="Google Shape;127;p6"/>
          <p:cNvSpPr/>
          <p:nvPr/>
        </p:nvSpPr>
        <p:spPr>
          <a:xfrm>
            <a:off x="5532120" y="2779776"/>
            <a:ext cx="5852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BLE, not Classic</a:t>
            </a:r>
            <a:endParaRPr b="0" i="0" sz="1500" u="none" cap="none" strike="noStrike">
              <a:solidFill>
                <a:schemeClr val="dk1"/>
              </a:solidFill>
              <a:latin typeface="Calibri"/>
              <a:ea typeface="Calibri"/>
              <a:cs typeface="Calibri"/>
              <a:sym typeface="Calibri"/>
            </a:endParaRPr>
          </a:p>
        </p:txBody>
      </p:sp>
      <p:sp>
        <p:nvSpPr>
          <p:cNvPr id="128" name="Google Shape;128;p6"/>
          <p:cNvSpPr/>
          <p:nvPr/>
        </p:nvSpPr>
        <p:spPr>
          <a:xfrm>
            <a:off x="5532120" y="3072384"/>
            <a:ext cx="5852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B4D0"/>
              </a:buClr>
              <a:buSzPts val="1200"/>
              <a:buFont typeface="Calibri"/>
              <a:buNone/>
            </a:pPr>
            <a:r>
              <a:rPr b="0" i="0" lang="en-US" sz="1200" u="none" cap="none" strike="noStrike">
                <a:solidFill>
                  <a:srgbClr val="A3B4D0"/>
                </a:solidFill>
                <a:latin typeface="Calibri"/>
                <a:ea typeface="Calibri"/>
                <a:cs typeface="Calibri"/>
                <a:sym typeface="Calibri"/>
              </a:rPr>
              <a:t>Works with iOS; Apple blocks Classic from apps</a:t>
            </a:r>
            <a:endParaRPr b="0" i="0" sz="1200" u="none" cap="none" strike="noStrike">
              <a:solidFill>
                <a:schemeClr val="dk1"/>
              </a:solidFill>
              <a:latin typeface="Calibri"/>
              <a:ea typeface="Calibri"/>
              <a:cs typeface="Calibri"/>
              <a:sym typeface="Calibri"/>
            </a:endParaRPr>
          </a:p>
        </p:txBody>
      </p:sp>
      <p:sp>
        <p:nvSpPr>
          <p:cNvPr id="129" name="Google Shape;129;p6"/>
          <p:cNvSpPr/>
          <p:nvPr/>
        </p:nvSpPr>
        <p:spPr>
          <a:xfrm>
            <a:off x="4754880" y="3547872"/>
            <a:ext cx="6766560" cy="749808"/>
          </a:xfrm>
          <a:prstGeom prst="roundRect">
            <a:avLst>
              <a:gd fmla="val 12195"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4956048" y="3730752"/>
            <a:ext cx="384048" cy="384048"/>
          </a:xfrm>
          <a:prstGeom prst="ellipse">
            <a:avLst/>
          </a:prstGeom>
          <a:solidFill>
            <a:srgbClr val="1E3358"/>
          </a:solidFill>
          <a:ln cap="flat" cmpd="sng" w="15875">
            <a:solidFill>
              <a:srgbClr val="35D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1" name="Google Shape;131;p6"/>
          <p:cNvPicPr preferRelativeResize="0"/>
          <p:nvPr/>
        </p:nvPicPr>
        <p:blipFill rotWithShape="1">
          <a:blip r:embed="rId8">
            <a:alphaModFix/>
          </a:blip>
          <a:srcRect b="0" l="0" r="0" t="0"/>
          <a:stretch/>
        </p:blipFill>
        <p:spPr>
          <a:xfrm>
            <a:off x="5056632" y="3831336"/>
            <a:ext cx="182880" cy="182880"/>
          </a:xfrm>
          <a:prstGeom prst="rect">
            <a:avLst/>
          </a:prstGeom>
          <a:noFill/>
          <a:ln>
            <a:noFill/>
          </a:ln>
        </p:spPr>
      </p:pic>
      <p:sp>
        <p:nvSpPr>
          <p:cNvPr id="132" name="Google Shape;132;p6"/>
          <p:cNvSpPr/>
          <p:nvPr/>
        </p:nvSpPr>
        <p:spPr>
          <a:xfrm>
            <a:off x="5532120" y="3639312"/>
            <a:ext cx="5852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VCC 3.6-6 V</a:t>
            </a:r>
            <a:endParaRPr b="0" i="0" sz="1500" u="none" cap="none" strike="noStrike">
              <a:solidFill>
                <a:schemeClr val="dk1"/>
              </a:solidFill>
              <a:latin typeface="Calibri"/>
              <a:ea typeface="Calibri"/>
              <a:cs typeface="Calibri"/>
              <a:sym typeface="Calibri"/>
            </a:endParaRPr>
          </a:p>
        </p:txBody>
      </p:sp>
      <p:sp>
        <p:nvSpPr>
          <p:cNvPr id="133" name="Google Shape;133;p6"/>
          <p:cNvSpPr/>
          <p:nvPr/>
        </p:nvSpPr>
        <p:spPr>
          <a:xfrm>
            <a:off x="5532120" y="3931920"/>
            <a:ext cx="5852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B4D0"/>
              </a:buClr>
              <a:buSzPts val="1200"/>
              <a:buFont typeface="Calibri"/>
              <a:buNone/>
            </a:pPr>
            <a:r>
              <a:rPr b="0" i="0" lang="en-US" sz="1200" u="none" cap="none" strike="noStrike">
                <a:solidFill>
                  <a:srgbClr val="A3B4D0"/>
                </a:solidFill>
                <a:latin typeface="Calibri"/>
                <a:ea typeface="Calibri"/>
                <a:cs typeface="Calibri"/>
                <a:sym typeface="Calibri"/>
              </a:rPr>
              <a:t>On-board regulator; TX / RX are 3.3 V logic</a:t>
            </a:r>
            <a:endParaRPr b="0" i="0" sz="1200" u="none" cap="none" strike="noStrike">
              <a:solidFill>
                <a:schemeClr val="dk1"/>
              </a:solidFill>
              <a:latin typeface="Calibri"/>
              <a:ea typeface="Calibri"/>
              <a:cs typeface="Calibri"/>
              <a:sym typeface="Calibri"/>
            </a:endParaRPr>
          </a:p>
        </p:txBody>
      </p:sp>
      <p:sp>
        <p:nvSpPr>
          <p:cNvPr id="134" name="Google Shape;134;p6"/>
          <p:cNvSpPr/>
          <p:nvPr/>
        </p:nvSpPr>
        <p:spPr>
          <a:xfrm>
            <a:off x="4754880" y="4407408"/>
            <a:ext cx="6766560" cy="749808"/>
          </a:xfrm>
          <a:prstGeom prst="roundRect">
            <a:avLst>
              <a:gd fmla="val 12195"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p:nvPr/>
        </p:nvSpPr>
        <p:spPr>
          <a:xfrm>
            <a:off x="4956048" y="4590288"/>
            <a:ext cx="384048" cy="384048"/>
          </a:xfrm>
          <a:prstGeom prst="ellipse">
            <a:avLst/>
          </a:prstGeom>
          <a:solidFill>
            <a:srgbClr val="1E3358"/>
          </a:solidFill>
          <a:ln cap="flat" cmpd="sng" w="15875">
            <a:solidFill>
              <a:srgbClr val="35D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6" name="Google Shape;136;p6"/>
          <p:cNvPicPr preferRelativeResize="0"/>
          <p:nvPr/>
        </p:nvPicPr>
        <p:blipFill rotWithShape="1">
          <a:blip r:embed="rId9">
            <a:alphaModFix/>
          </a:blip>
          <a:srcRect b="0" l="0" r="0" t="0"/>
          <a:stretch/>
        </p:blipFill>
        <p:spPr>
          <a:xfrm>
            <a:off x="5056632" y="4690872"/>
            <a:ext cx="182880" cy="182880"/>
          </a:xfrm>
          <a:prstGeom prst="rect">
            <a:avLst/>
          </a:prstGeom>
          <a:noFill/>
          <a:ln>
            <a:noFill/>
          </a:ln>
        </p:spPr>
      </p:pic>
      <p:sp>
        <p:nvSpPr>
          <p:cNvPr id="137" name="Google Shape;137;p6"/>
          <p:cNvSpPr/>
          <p:nvPr/>
        </p:nvSpPr>
        <p:spPr>
          <a:xfrm>
            <a:off x="5532120" y="4498848"/>
            <a:ext cx="5852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9600 8N1 default</a:t>
            </a:r>
            <a:endParaRPr b="0" i="0" sz="1500" u="none" cap="none" strike="noStrike">
              <a:solidFill>
                <a:schemeClr val="dk1"/>
              </a:solidFill>
              <a:latin typeface="Calibri"/>
              <a:ea typeface="Calibri"/>
              <a:cs typeface="Calibri"/>
              <a:sym typeface="Calibri"/>
            </a:endParaRPr>
          </a:p>
        </p:txBody>
      </p:sp>
      <p:sp>
        <p:nvSpPr>
          <p:cNvPr id="138" name="Google Shape;138;p6"/>
          <p:cNvSpPr/>
          <p:nvPr/>
        </p:nvSpPr>
        <p:spPr>
          <a:xfrm>
            <a:off x="5532120" y="4791456"/>
            <a:ext cx="5852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B4D0"/>
              </a:buClr>
              <a:buSzPts val="1200"/>
              <a:buFont typeface="Calibri"/>
              <a:buNone/>
            </a:pPr>
            <a:r>
              <a:rPr b="0" i="0" lang="en-US" sz="1200" u="none" cap="none" strike="noStrike">
                <a:solidFill>
                  <a:srgbClr val="A3B4D0"/>
                </a:solidFill>
                <a:latin typeface="Calibri"/>
                <a:ea typeface="Calibri"/>
                <a:cs typeface="Calibri"/>
                <a:sym typeface="Calibri"/>
              </a:rPr>
              <a:t>Acts as a transparent serial bridge</a:t>
            </a:r>
            <a:endParaRPr b="0" i="0" sz="1200" u="none" cap="none" strike="noStrike">
              <a:solidFill>
                <a:schemeClr val="dk1"/>
              </a:solidFill>
              <a:latin typeface="Calibri"/>
              <a:ea typeface="Calibri"/>
              <a:cs typeface="Calibri"/>
              <a:sym typeface="Calibri"/>
            </a:endParaRPr>
          </a:p>
        </p:txBody>
      </p:sp>
      <p:sp>
        <p:nvSpPr>
          <p:cNvPr id="139" name="Google Shape;139;p6"/>
          <p:cNvSpPr/>
          <p:nvPr/>
        </p:nvSpPr>
        <p:spPr>
          <a:xfrm>
            <a:off x="4754880" y="5266944"/>
            <a:ext cx="6766560" cy="749808"/>
          </a:xfrm>
          <a:prstGeom prst="roundRect">
            <a:avLst>
              <a:gd fmla="val 12195"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4956048" y="5449824"/>
            <a:ext cx="384048" cy="384048"/>
          </a:xfrm>
          <a:prstGeom prst="ellipse">
            <a:avLst/>
          </a:prstGeom>
          <a:solidFill>
            <a:srgbClr val="1E3358"/>
          </a:solidFill>
          <a:ln cap="flat" cmpd="sng" w="15875">
            <a:solidFill>
              <a:srgbClr val="35D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1" name="Google Shape;141;p6"/>
          <p:cNvPicPr preferRelativeResize="0"/>
          <p:nvPr/>
        </p:nvPicPr>
        <p:blipFill rotWithShape="1">
          <a:blip r:embed="rId10">
            <a:alphaModFix/>
          </a:blip>
          <a:srcRect b="0" l="0" r="0" t="0"/>
          <a:stretch/>
        </p:blipFill>
        <p:spPr>
          <a:xfrm>
            <a:off x="5056632" y="5550408"/>
            <a:ext cx="182880" cy="182880"/>
          </a:xfrm>
          <a:prstGeom prst="rect">
            <a:avLst/>
          </a:prstGeom>
          <a:noFill/>
          <a:ln>
            <a:noFill/>
          </a:ln>
        </p:spPr>
      </p:pic>
      <p:sp>
        <p:nvSpPr>
          <p:cNvPr id="142" name="Google Shape;142;p6"/>
          <p:cNvSpPr/>
          <p:nvPr/>
        </p:nvSpPr>
        <p:spPr>
          <a:xfrm>
            <a:off x="5532120" y="5358384"/>
            <a:ext cx="5852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~10-30 m range</a:t>
            </a:r>
            <a:endParaRPr b="0" i="0" sz="1500" u="none" cap="none" strike="noStrike">
              <a:solidFill>
                <a:schemeClr val="dk1"/>
              </a:solidFill>
              <a:latin typeface="Calibri"/>
              <a:ea typeface="Calibri"/>
              <a:cs typeface="Calibri"/>
              <a:sym typeface="Calibri"/>
            </a:endParaRPr>
          </a:p>
        </p:txBody>
      </p:sp>
      <p:sp>
        <p:nvSpPr>
          <p:cNvPr id="143" name="Google Shape;143;p6"/>
          <p:cNvSpPr/>
          <p:nvPr/>
        </p:nvSpPr>
        <p:spPr>
          <a:xfrm>
            <a:off x="5532120" y="5650992"/>
            <a:ext cx="5852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B4D0"/>
              </a:buClr>
              <a:buSzPts val="1200"/>
              <a:buFont typeface="Calibri"/>
              <a:buNone/>
            </a:pPr>
            <a:r>
              <a:rPr b="0" i="0" lang="en-US" sz="1200" u="none" cap="none" strike="noStrike">
                <a:solidFill>
                  <a:srgbClr val="A3B4D0"/>
                </a:solidFill>
                <a:latin typeface="Calibri"/>
                <a:ea typeface="Calibri"/>
                <a:cs typeface="Calibri"/>
                <a:sym typeface="Calibri"/>
              </a:rPr>
              <a:t>LED: blinking = advertising, solid = connected</a:t>
            </a:r>
            <a:endParaRPr b="0" i="0" sz="1200" u="none" cap="none" strike="noStrike">
              <a:solidFill>
                <a:schemeClr val="dk1"/>
              </a:solidFill>
              <a:latin typeface="Calibri"/>
              <a:ea typeface="Calibri"/>
              <a:cs typeface="Calibri"/>
              <a:sym typeface="Calibri"/>
            </a:endParaRPr>
          </a:p>
        </p:txBody>
      </p:sp>
      <p:sp>
        <p:nvSpPr>
          <p:cNvPr id="144" name="Google Shape;144;p6"/>
          <p:cNvSpPr/>
          <p:nvPr/>
        </p:nvSpPr>
        <p:spPr>
          <a:xfrm>
            <a:off x="4754880" y="6144768"/>
            <a:ext cx="6766560" cy="566928"/>
          </a:xfrm>
          <a:prstGeom prst="roundRect">
            <a:avLst>
              <a:gd fmla="val 16129" name="adj"/>
            </a:avLst>
          </a:prstGeom>
          <a:solidFill>
            <a:srgbClr val="20364F"/>
          </a:solidFill>
          <a:ln cap="flat" cmpd="sng" w="15875">
            <a:solidFill>
              <a:srgbClr val="F5B4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4983480" y="6144768"/>
            <a:ext cx="6400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B44C"/>
              </a:buClr>
              <a:buSzPts val="1250"/>
              <a:buFont typeface="Calibri"/>
              <a:buNone/>
            </a:pPr>
            <a:r>
              <a:rPr b="1" i="0" lang="en-US" sz="1250" u="none" cap="none" strike="noStrike">
                <a:solidFill>
                  <a:srgbClr val="F5B44C"/>
                </a:solidFill>
                <a:latin typeface="Calibri"/>
                <a:ea typeface="Calibri"/>
                <a:cs typeface="Calibri"/>
                <a:sym typeface="Calibri"/>
              </a:rPr>
              <a:t>4 pins:  </a:t>
            </a:r>
            <a:r>
              <a:rPr b="0" i="0" lang="en-US" sz="1250" u="none" cap="none" strike="noStrike">
                <a:solidFill>
                  <a:srgbClr val="F4F7FB"/>
                </a:solidFill>
                <a:latin typeface="Calibri"/>
                <a:ea typeface="Calibri"/>
                <a:cs typeface="Calibri"/>
                <a:sym typeface="Calibri"/>
              </a:rPr>
              <a:t>VCC · GND · TXD · RXD.  We only wire </a:t>
            </a:r>
            <a:r>
              <a:rPr b="1" i="0" lang="en-US" sz="1250" u="none" cap="none" strike="noStrike">
                <a:solidFill>
                  <a:srgbClr val="F5B44C"/>
                </a:solidFill>
                <a:latin typeface="Calibri"/>
                <a:ea typeface="Calibri"/>
                <a:cs typeface="Calibri"/>
                <a:sym typeface="Calibri"/>
              </a:rPr>
              <a:t>TXD to the Tiva</a:t>
            </a:r>
            <a:r>
              <a:rPr b="0" i="0" lang="en-US" sz="1250" u="none" cap="none" strike="noStrike">
                <a:solidFill>
                  <a:srgbClr val="F4F7FB"/>
                </a:solidFill>
                <a:latin typeface="Calibri"/>
                <a:ea typeface="Calibri"/>
                <a:cs typeface="Calibri"/>
                <a:sym typeface="Calibri"/>
              </a:rPr>
              <a:t>, since the board only listens.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30"/>
        </a:solidFill>
      </p:bgPr>
    </p:bg>
    <p:spTree>
      <p:nvGrpSpPr>
        <p:cNvPr id="150" name="Shape 150"/>
        <p:cNvGrpSpPr/>
        <p:nvPr/>
      </p:nvGrpSpPr>
      <p:grpSpPr>
        <a:xfrm>
          <a:off x="0" y="0"/>
          <a:ext cx="0" cy="0"/>
          <a:chOff x="0" y="0"/>
          <a:chExt cx="0" cy="0"/>
        </a:xfrm>
      </p:grpSpPr>
      <p:sp>
        <p:nvSpPr>
          <p:cNvPr id="151" name="Google Shape;151;p7"/>
          <p:cNvSpPr/>
          <p:nvPr/>
        </p:nvSpPr>
        <p:spPr>
          <a:xfrm>
            <a:off x="640080" y="475488"/>
            <a:ext cx="786384" cy="786384"/>
          </a:xfrm>
          <a:prstGeom prst="ellipse">
            <a:avLst/>
          </a:prstGeom>
          <a:solidFill>
            <a:srgbClr val="35D2E8"/>
          </a:solidFill>
          <a:ln>
            <a:noFill/>
          </a:ln>
          <a:effectLst>
            <a:outerShdw blurRad="101600" rotWithShape="0" algn="bl" dir="54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2" name="Google Shape;152;p7"/>
          <p:cNvPicPr preferRelativeResize="0"/>
          <p:nvPr/>
        </p:nvPicPr>
        <p:blipFill rotWithShape="1">
          <a:blip r:embed="rId3">
            <a:alphaModFix/>
          </a:blip>
          <a:srcRect b="0" l="0" r="0" t="0"/>
          <a:stretch/>
        </p:blipFill>
        <p:spPr>
          <a:xfrm>
            <a:off x="859536" y="694944"/>
            <a:ext cx="347472" cy="347472"/>
          </a:xfrm>
          <a:prstGeom prst="rect">
            <a:avLst/>
          </a:prstGeom>
          <a:noFill/>
          <a:ln>
            <a:noFill/>
          </a:ln>
        </p:spPr>
      </p:pic>
      <p:sp>
        <p:nvSpPr>
          <p:cNvPr id="153" name="Google Shape;153;p7"/>
          <p:cNvSpPr/>
          <p:nvPr/>
        </p:nvSpPr>
        <p:spPr>
          <a:xfrm>
            <a:off x="1627632" y="502920"/>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200"/>
              <a:buFont typeface="Calibri"/>
              <a:buNone/>
            </a:pPr>
            <a:r>
              <a:rPr b="1" i="0" lang="en-US" sz="1200" u="none" cap="none" strike="noStrike">
                <a:solidFill>
                  <a:srgbClr val="35D2E8"/>
                </a:solidFill>
                <a:latin typeface="Calibri"/>
                <a:ea typeface="Calibri"/>
                <a:cs typeface="Calibri"/>
                <a:sym typeface="Calibri"/>
              </a:rPr>
              <a:t>HM-10 ↔ TM4C123</a:t>
            </a:r>
            <a:endParaRPr b="0" i="0" sz="1200" u="none" cap="none" strike="noStrike">
              <a:solidFill>
                <a:schemeClr val="dk1"/>
              </a:solidFill>
              <a:latin typeface="Calibri"/>
              <a:ea typeface="Calibri"/>
              <a:cs typeface="Calibri"/>
              <a:sym typeface="Calibri"/>
            </a:endParaRPr>
          </a:p>
        </p:txBody>
      </p:sp>
      <p:sp>
        <p:nvSpPr>
          <p:cNvPr id="154" name="Google Shape;154;p7"/>
          <p:cNvSpPr/>
          <p:nvPr/>
        </p:nvSpPr>
        <p:spPr>
          <a:xfrm>
            <a:off x="1600200" y="749808"/>
            <a:ext cx="10241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3000"/>
              <a:buFont typeface="Calibri"/>
              <a:buNone/>
            </a:pPr>
            <a:r>
              <a:rPr b="1" i="0" lang="en-US" sz="3000" u="none" cap="none" strike="noStrike">
                <a:solidFill>
                  <a:srgbClr val="F4F7FB"/>
                </a:solidFill>
                <a:latin typeface="Calibri"/>
                <a:ea typeface="Calibri"/>
                <a:cs typeface="Calibri"/>
                <a:sym typeface="Calibri"/>
              </a:rPr>
              <a:t>Wiring the Serial Link</a:t>
            </a:r>
            <a:endParaRPr b="0" i="0" sz="3000" u="none" cap="none" strike="noStrike">
              <a:solidFill>
                <a:schemeClr val="dk1"/>
              </a:solidFill>
              <a:latin typeface="Calibri"/>
              <a:ea typeface="Calibri"/>
              <a:cs typeface="Calibri"/>
              <a:sym typeface="Calibri"/>
            </a:endParaRPr>
          </a:p>
        </p:txBody>
      </p:sp>
      <p:sp>
        <p:nvSpPr>
          <p:cNvPr id="155" name="Google Shape;155;p7"/>
          <p:cNvSpPr/>
          <p:nvPr/>
        </p:nvSpPr>
        <p:spPr>
          <a:xfrm>
            <a:off x="10424160" y="658368"/>
            <a:ext cx="845820" cy="310896"/>
          </a:xfrm>
          <a:prstGeom prst="roundRect">
            <a:avLst>
              <a:gd fmla="val 20588" name="adj"/>
            </a:avLst>
          </a:prstGeom>
          <a:solidFill>
            <a:srgbClr val="0E1A30"/>
          </a:solidFill>
          <a:ln cap="flat" cmpd="sng" w="15875">
            <a:solidFill>
              <a:srgbClr val="35D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10424160" y="658368"/>
            <a:ext cx="8458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2E8"/>
              </a:buClr>
              <a:buSzPts val="1050"/>
              <a:buFont typeface="Calibri"/>
              <a:buNone/>
            </a:pPr>
            <a:r>
              <a:rPr b="1" i="0" lang="en-US" sz="1050" u="none" cap="none" strike="noStrike">
                <a:solidFill>
                  <a:srgbClr val="35D2E8"/>
                </a:solidFill>
                <a:latin typeface="Calibri"/>
                <a:ea typeface="Calibri"/>
                <a:cs typeface="Calibri"/>
                <a:sym typeface="Calibri"/>
              </a:rPr>
              <a:t>LAB 6</a:t>
            </a:r>
            <a:endParaRPr b="0" i="0" sz="1050" u="none" cap="none" strike="noStrike">
              <a:solidFill>
                <a:schemeClr val="dk1"/>
              </a:solidFill>
              <a:latin typeface="Calibri"/>
              <a:ea typeface="Calibri"/>
              <a:cs typeface="Calibri"/>
              <a:sym typeface="Calibri"/>
            </a:endParaRPr>
          </a:p>
        </p:txBody>
      </p:sp>
      <p:sp>
        <p:nvSpPr>
          <p:cNvPr id="157" name="Google Shape;157;p7"/>
          <p:cNvSpPr/>
          <p:nvPr/>
        </p:nvSpPr>
        <p:spPr>
          <a:xfrm>
            <a:off x="685800" y="1874520"/>
            <a:ext cx="4937760" cy="2651760"/>
          </a:xfrm>
          <a:prstGeom prst="roundRect">
            <a:avLst>
              <a:gd fmla="val 2414" name="adj"/>
            </a:avLst>
          </a:prstGeom>
          <a:solidFill>
            <a:srgbClr val="F4F7FB"/>
          </a:solidFill>
          <a:ln>
            <a:noFill/>
          </a:ln>
          <a:effectLst>
            <a:outerShdw blurRad="152400" rotWithShape="0" algn="bl" dir="5400000" dist="635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g/uart.png" id="158" name="Google Shape;158;p7"/>
          <p:cNvPicPr preferRelativeResize="0"/>
          <p:nvPr/>
        </p:nvPicPr>
        <p:blipFill rotWithShape="1">
          <a:blip r:embed="rId4">
            <a:alphaModFix/>
          </a:blip>
          <a:srcRect b="0" l="0" r="0" t="0"/>
          <a:stretch/>
        </p:blipFill>
        <p:spPr>
          <a:xfrm>
            <a:off x="861284" y="1965960"/>
            <a:ext cx="4586792" cy="2468880"/>
          </a:xfrm>
          <a:prstGeom prst="rect">
            <a:avLst/>
          </a:prstGeom>
          <a:noFill/>
          <a:ln>
            <a:noFill/>
          </a:ln>
        </p:spPr>
      </p:pic>
      <p:sp>
        <p:nvSpPr>
          <p:cNvPr id="159" name="Google Shape;159;p7"/>
          <p:cNvSpPr/>
          <p:nvPr/>
        </p:nvSpPr>
        <p:spPr>
          <a:xfrm>
            <a:off x="685800" y="4709160"/>
            <a:ext cx="4937760" cy="1234440"/>
          </a:xfrm>
          <a:prstGeom prst="roundRect">
            <a:avLst>
              <a:gd fmla="val 7407"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914400" y="4828032"/>
            <a:ext cx="4526280" cy="10058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5D2E8"/>
              </a:buClr>
              <a:buSzPts val="1350"/>
              <a:buFont typeface="Calibri"/>
              <a:buNone/>
            </a:pPr>
            <a:r>
              <a:rPr b="1" i="0" lang="en-US" sz="1350" u="none" cap="none" strike="noStrike">
                <a:solidFill>
                  <a:srgbClr val="35D2E8"/>
                </a:solidFill>
                <a:latin typeface="Calibri"/>
                <a:ea typeface="Calibri"/>
                <a:cs typeface="Calibri"/>
                <a:sym typeface="Calibri"/>
              </a:rPr>
              <a:t>The one rule:  </a:t>
            </a:r>
            <a:r>
              <a:rPr b="0" i="0" lang="en-US" sz="1350" u="none" cap="none" strike="noStrike">
                <a:solidFill>
                  <a:srgbClr val="F4F7FB"/>
                </a:solidFill>
                <a:latin typeface="Calibri"/>
                <a:ea typeface="Calibri"/>
                <a:cs typeface="Calibri"/>
                <a:sym typeface="Calibri"/>
              </a:rPr>
              <a:t>one device's </a:t>
            </a:r>
            <a:r>
              <a:rPr b="1" i="0" lang="en-US" sz="1350" u="none" cap="none" strike="noStrike">
                <a:solidFill>
                  <a:srgbClr val="F5B44C"/>
                </a:solidFill>
                <a:latin typeface="Calibri"/>
                <a:ea typeface="Calibri"/>
                <a:cs typeface="Calibri"/>
                <a:sym typeface="Calibri"/>
              </a:rPr>
              <a:t>TX</a:t>
            </a:r>
            <a:r>
              <a:rPr b="0" i="0" lang="en-US" sz="1350" u="none" cap="none" strike="noStrike">
                <a:solidFill>
                  <a:srgbClr val="F4F7FB"/>
                </a:solidFill>
                <a:latin typeface="Calibri"/>
                <a:ea typeface="Calibri"/>
                <a:cs typeface="Calibri"/>
                <a:sym typeface="Calibri"/>
              </a:rPr>
              <a:t> wires to the other's </a:t>
            </a:r>
            <a:r>
              <a:rPr b="1" i="0" lang="en-US" sz="1350" u="none" cap="none" strike="noStrike">
                <a:solidFill>
                  <a:srgbClr val="F5B44C"/>
                </a:solidFill>
                <a:latin typeface="Calibri"/>
                <a:ea typeface="Calibri"/>
                <a:cs typeface="Calibri"/>
                <a:sym typeface="Calibri"/>
              </a:rPr>
              <a:t>RX</a:t>
            </a:r>
            <a:r>
              <a:rPr b="0" i="0" lang="en-US" sz="1350" u="none" cap="none" strike="noStrike">
                <a:solidFill>
                  <a:srgbClr val="A3B4D0"/>
                </a:solidFill>
                <a:latin typeface="Calibri"/>
                <a:ea typeface="Calibri"/>
                <a:cs typeface="Calibri"/>
                <a:sym typeface="Calibri"/>
              </a:rPr>
              <a:t>.  Get it backwards and everything looks connected but nothing moves.</a:t>
            </a:r>
            <a:endParaRPr b="0" i="0" sz="1350" u="none" cap="none" strike="noStrike">
              <a:solidFill>
                <a:schemeClr val="dk1"/>
              </a:solidFill>
              <a:latin typeface="Calibri"/>
              <a:ea typeface="Calibri"/>
              <a:cs typeface="Calibri"/>
              <a:sym typeface="Calibri"/>
            </a:endParaRPr>
          </a:p>
        </p:txBody>
      </p:sp>
      <p:sp>
        <p:nvSpPr>
          <p:cNvPr id="161" name="Google Shape;161;p7"/>
          <p:cNvSpPr/>
          <p:nvPr/>
        </p:nvSpPr>
        <p:spPr>
          <a:xfrm>
            <a:off x="603504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700"/>
              <a:buFont typeface="Calibri"/>
              <a:buNone/>
            </a:pPr>
            <a:r>
              <a:rPr b="1" i="0" lang="en-US" sz="1700" u="none" cap="none" strike="noStrike">
                <a:solidFill>
                  <a:srgbClr val="F4F7FB"/>
                </a:solidFill>
                <a:latin typeface="Calibri"/>
                <a:ea typeface="Calibri"/>
                <a:cs typeface="Calibri"/>
                <a:sym typeface="Calibri"/>
              </a:rPr>
              <a:t>Wiring - UART5 on Port E</a:t>
            </a:r>
            <a:endParaRPr b="0" i="0" sz="1700" u="none" cap="none" strike="noStrike">
              <a:solidFill>
                <a:schemeClr val="dk1"/>
              </a:solidFill>
              <a:latin typeface="Calibri"/>
              <a:ea typeface="Calibri"/>
              <a:cs typeface="Calibri"/>
              <a:sym typeface="Calibri"/>
            </a:endParaRPr>
          </a:p>
        </p:txBody>
      </p:sp>
      <p:sp>
        <p:nvSpPr>
          <p:cNvPr id="162" name="Google Shape;162;p7"/>
          <p:cNvSpPr/>
          <p:nvPr/>
        </p:nvSpPr>
        <p:spPr>
          <a:xfrm>
            <a:off x="6035040" y="2331720"/>
            <a:ext cx="5486400" cy="713232"/>
          </a:xfrm>
          <a:prstGeom prst="roundRect">
            <a:avLst>
              <a:gd fmla="val 11538"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6217920" y="2331720"/>
            <a:ext cx="169164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300"/>
              <a:buFont typeface="Courier New"/>
              <a:buNone/>
            </a:pPr>
            <a:r>
              <a:rPr b="1" i="0" lang="en-US" sz="1300" u="none" cap="none" strike="noStrike">
                <a:solidFill>
                  <a:srgbClr val="F4F7FB"/>
                </a:solidFill>
                <a:latin typeface="Courier New"/>
                <a:ea typeface="Courier New"/>
                <a:cs typeface="Courier New"/>
                <a:sym typeface="Courier New"/>
              </a:rPr>
              <a:t>HM-10 TXD</a:t>
            </a:r>
            <a:endParaRPr b="0" i="0" sz="1300" u="none" cap="none" strike="noStrike">
              <a:solidFill>
                <a:schemeClr val="dk1"/>
              </a:solidFill>
              <a:latin typeface="Calibri"/>
              <a:ea typeface="Calibri"/>
              <a:cs typeface="Calibri"/>
              <a:sym typeface="Calibri"/>
            </a:endParaRPr>
          </a:p>
        </p:txBody>
      </p:sp>
      <p:sp>
        <p:nvSpPr>
          <p:cNvPr id="164" name="Google Shape;164;p7"/>
          <p:cNvSpPr/>
          <p:nvPr/>
        </p:nvSpPr>
        <p:spPr>
          <a:xfrm>
            <a:off x="7818120" y="2331720"/>
            <a:ext cx="36576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2E8"/>
              </a:buClr>
              <a:buSzPts val="1500"/>
              <a:buFont typeface="Calibri"/>
              <a:buNone/>
            </a:pPr>
            <a:r>
              <a:rPr b="1" i="0" lang="en-US" sz="1500" u="none" cap="none" strike="noStrike">
                <a:solidFill>
                  <a:srgbClr val="35D2E8"/>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65" name="Google Shape;165;p7"/>
          <p:cNvSpPr/>
          <p:nvPr/>
        </p:nvSpPr>
        <p:spPr>
          <a:xfrm>
            <a:off x="8183880" y="2331720"/>
            <a:ext cx="17373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B44C"/>
              </a:buClr>
              <a:buSzPts val="1300"/>
              <a:buFont typeface="Courier New"/>
              <a:buNone/>
            </a:pPr>
            <a:r>
              <a:rPr b="1" i="0" lang="en-US" sz="1300" u="none" cap="none" strike="noStrike">
                <a:solidFill>
                  <a:srgbClr val="F5B44C"/>
                </a:solidFill>
                <a:latin typeface="Courier New"/>
                <a:ea typeface="Courier New"/>
                <a:cs typeface="Courier New"/>
                <a:sym typeface="Courier New"/>
              </a:rPr>
              <a:t>PE4  (U5RX)</a:t>
            </a:r>
            <a:endParaRPr b="0" i="0" sz="1300" u="none" cap="none" strike="noStrike">
              <a:solidFill>
                <a:schemeClr val="dk1"/>
              </a:solidFill>
              <a:latin typeface="Calibri"/>
              <a:ea typeface="Calibri"/>
              <a:cs typeface="Calibri"/>
              <a:sym typeface="Calibri"/>
            </a:endParaRPr>
          </a:p>
        </p:txBody>
      </p:sp>
      <p:sp>
        <p:nvSpPr>
          <p:cNvPr id="166" name="Google Shape;166;p7"/>
          <p:cNvSpPr/>
          <p:nvPr/>
        </p:nvSpPr>
        <p:spPr>
          <a:xfrm>
            <a:off x="9875520" y="2331720"/>
            <a:ext cx="15544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B4D0"/>
              </a:buClr>
              <a:buSzPts val="1050"/>
              <a:buFont typeface="Calibri"/>
              <a:buNone/>
            </a:pPr>
            <a:r>
              <a:rPr b="0" i="0" lang="en-US" sz="1050" u="none" cap="none" strike="noStrike">
                <a:solidFill>
                  <a:srgbClr val="A3B4D0"/>
                </a:solidFill>
                <a:latin typeface="Calibri"/>
                <a:ea typeface="Calibri"/>
                <a:cs typeface="Calibri"/>
                <a:sym typeface="Calibri"/>
              </a:rPr>
              <a:t>the byte the board receives</a:t>
            </a:r>
            <a:endParaRPr b="0" i="0" sz="1050" u="none" cap="none" strike="noStrike">
              <a:solidFill>
                <a:schemeClr val="dk1"/>
              </a:solidFill>
              <a:latin typeface="Calibri"/>
              <a:ea typeface="Calibri"/>
              <a:cs typeface="Calibri"/>
              <a:sym typeface="Calibri"/>
            </a:endParaRPr>
          </a:p>
        </p:txBody>
      </p:sp>
      <p:sp>
        <p:nvSpPr>
          <p:cNvPr id="167" name="Google Shape;167;p7"/>
          <p:cNvSpPr/>
          <p:nvPr/>
        </p:nvSpPr>
        <p:spPr>
          <a:xfrm>
            <a:off x="6035040" y="3118104"/>
            <a:ext cx="5486400" cy="713232"/>
          </a:xfrm>
          <a:prstGeom prst="roundRect">
            <a:avLst>
              <a:gd fmla="val 11538" name="adj"/>
            </a:avLst>
          </a:prstGeom>
          <a:solidFill>
            <a:srgbClr val="172033"/>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6217920" y="3118104"/>
            <a:ext cx="169164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2A6"/>
              </a:buClr>
              <a:buSzPts val="1300"/>
              <a:buFont typeface="Courier New"/>
              <a:buNone/>
            </a:pPr>
            <a:r>
              <a:rPr b="1" i="0" lang="en-US" sz="1300" u="none" cap="none" strike="noStrike">
                <a:solidFill>
                  <a:srgbClr val="6E82A6"/>
                </a:solidFill>
                <a:latin typeface="Courier New"/>
                <a:ea typeface="Courier New"/>
                <a:cs typeface="Courier New"/>
                <a:sym typeface="Courier New"/>
              </a:rPr>
              <a:t>HM-10 RXD</a:t>
            </a:r>
            <a:endParaRPr b="0" i="0" sz="1300" u="none" cap="none" strike="noStrike">
              <a:solidFill>
                <a:schemeClr val="dk1"/>
              </a:solidFill>
              <a:latin typeface="Calibri"/>
              <a:ea typeface="Calibri"/>
              <a:cs typeface="Calibri"/>
              <a:sym typeface="Calibri"/>
            </a:endParaRPr>
          </a:p>
        </p:txBody>
      </p:sp>
      <p:sp>
        <p:nvSpPr>
          <p:cNvPr id="169" name="Google Shape;169;p7"/>
          <p:cNvSpPr/>
          <p:nvPr/>
        </p:nvSpPr>
        <p:spPr>
          <a:xfrm>
            <a:off x="7818120" y="3118104"/>
            <a:ext cx="36576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82A6"/>
              </a:buClr>
              <a:buSzPts val="1500"/>
              <a:buFont typeface="Calibri"/>
              <a:buNone/>
            </a:pPr>
            <a:r>
              <a:rPr b="1" i="0" lang="en-US" sz="1500" u="none" cap="none" strike="noStrike">
                <a:solidFill>
                  <a:srgbClr val="6E82A6"/>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70" name="Google Shape;170;p7"/>
          <p:cNvSpPr/>
          <p:nvPr/>
        </p:nvSpPr>
        <p:spPr>
          <a:xfrm>
            <a:off x="8183880" y="3118104"/>
            <a:ext cx="17373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2A6"/>
              </a:buClr>
              <a:buSzPts val="1300"/>
              <a:buFont typeface="Courier New"/>
              <a:buNone/>
            </a:pPr>
            <a:r>
              <a:rPr b="1" i="0" lang="en-US" sz="1300" u="none" cap="none" strike="noStrike">
                <a:solidFill>
                  <a:srgbClr val="6E82A6"/>
                </a:solidFill>
                <a:latin typeface="Courier New"/>
                <a:ea typeface="Courier New"/>
                <a:cs typeface="Courier New"/>
                <a:sym typeface="Courier New"/>
              </a:rPr>
              <a:t>PE5  (U5TX)</a:t>
            </a:r>
            <a:endParaRPr b="0" i="0" sz="1300" u="none" cap="none" strike="noStrike">
              <a:solidFill>
                <a:schemeClr val="dk1"/>
              </a:solidFill>
              <a:latin typeface="Calibri"/>
              <a:ea typeface="Calibri"/>
              <a:cs typeface="Calibri"/>
              <a:sym typeface="Calibri"/>
            </a:endParaRPr>
          </a:p>
        </p:txBody>
      </p:sp>
      <p:sp>
        <p:nvSpPr>
          <p:cNvPr id="171" name="Google Shape;171;p7"/>
          <p:cNvSpPr/>
          <p:nvPr/>
        </p:nvSpPr>
        <p:spPr>
          <a:xfrm>
            <a:off x="9875520" y="3118104"/>
            <a:ext cx="15544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B4D0"/>
              </a:buClr>
              <a:buSzPts val="1050"/>
              <a:buFont typeface="Calibri"/>
              <a:buNone/>
            </a:pPr>
            <a:r>
              <a:rPr b="0" i="0" lang="en-US" sz="1050" u="none" cap="none" strike="noStrike">
                <a:solidFill>
                  <a:srgbClr val="A3B4D0"/>
                </a:solidFill>
                <a:latin typeface="Calibri"/>
                <a:ea typeface="Calibri"/>
                <a:cs typeface="Calibri"/>
                <a:sym typeface="Calibri"/>
              </a:rPr>
              <a:t>unused; the board never replies</a:t>
            </a:r>
            <a:endParaRPr b="0" i="0" sz="1050" u="none" cap="none" strike="noStrike">
              <a:solidFill>
                <a:schemeClr val="dk1"/>
              </a:solidFill>
              <a:latin typeface="Calibri"/>
              <a:ea typeface="Calibri"/>
              <a:cs typeface="Calibri"/>
              <a:sym typeface="Calibri"/>
            </a:endParaRPr>
          </a:p>
        </p:txBody>
      </p:sp>
      <p:sp>
        <p:nvSpPr>
          <p:cNvPr id="172" name="Google Shape;172;p7"/>
          <p:cNvSpPr/>
          <p:nvPr/>
        </p:nvSpPr>
        <p:spPr>
          <a:xfrm>
            <a:off x="6035040" y="3904488"/>
            <a:ext cx="5486400" cy="713232"/>
          </a:xfrm>
          <a:prstGeom prst="roundRect">
            <a:avLst>
              <a:gd fmla="val 11538"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6217920" y="3904488"/>
            <a:ext cx="169164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300"/>
              <a:buFont typeface="Courier New"/>
              <a:buNone/>
            </a:pPr>
            <a:r>
              <a:rPr b="1" i="0" lang="en-US" sz="1300" u="none" cap="none" strike="noStrike">
                <a:solidFill>
                  <a:srgbClr val="F4F7FB"/>
                </a:solidFill>
                <a:latin typeface="Courier New"/>
                <a:ea typeface="Courier New"/>
                <a:cs typeface="Courier New"/>
                <a:sym typeface="Courier New"/>
              </a:rPr>
              <a:t>VCC</a:t>
            </a:r>
            <a:endParaRPr b="0" i="0" sz="1300" u="none" cap="none" strike="noStrike">
              <a:solidFill>
                <a:schemeClr val="dk1"/>
              </a:solidFill>
              <a:latin typeface="Calibri"/>
              <a:ea typeface="Calibri"/>
              <a:cs typeface="Calibri"/>
              <a:sym typeface="Calibri"/>
            </a:endParaRPr>
          </a:p>
        </p:txBody>
      </p:sp>
      <p:sp>
        <p:nvSpPr>
          <p:cNvPr id="174" name="Google Shape;174;p7"/>
          <p:cNvSpPr/>
          <p:nvPr/>
        </p:nvSpPr>
        <p:spPr>
          <a:xfrm>
            <a:off x="7818120" y="3904488"/>
            <a:ext cx="36576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2E8"/>
              </a:buClr>
              <a:buSzPts val="1500"/>
              <a:buFont typeface="Calibri"/>
              <a:buNone/>
            </a:pPr>
            <a:r>
              <a:rPr b="1" i="0" lang="en-US" sz="1500" u="none" cap="none" strike="noStrike">
                <a:solidFill>
                  <a:srgbClr val="35D2E8"/>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75" name="Google Shape;175;p7"/>
          <p:cNvSpPr/>
          <p:nvPr/>
        </p:nvSpPr>
        <p:spPr>
          <a:xfrm>
            <a:off x="8183880" y="3904488"/>
            <a:ext cx="17373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B44C"/>
              </a:buClr>
              <a:buSzPts val="1300"/>
              <a:buFont typeface="Courier New"/>
              <a:buNone/>
            </a:pPr>
            <a:r>
              <a:rPr b="1" i="0" lang="en-US" sz="1300" u="none" cap="none" strike="noStrike">
                <a:solidFill>
                  <a:srgbClr val="F5B44C"/>
                </a:solidFill>
                <a:latin typeface="Courier New"/>
                <a:ea typeface="Courier New"/>
                <a:cs typeface="Courier New"/>
                <a:sym typeface="Courier New"/>
              </a:rPr>
              <a:t>5V rail</a:t>
            </a:r>
            <a:endParaRPr b="0" i="0" sz="1300" u="none" cap="none" strike="noStrike">
              <a:solidFill>
                <a:schemeClr val="dk1"/>
              </a:solidFill>
              <a:latin typeface="Calibri"/>
              <a:ea typeface="Calibri"/>
              <a:cs typeface="Calibri"/>
              <a:sym typeface="Calibri"/>
            </a:endParaRPr>
          </a:p>
        </p:txBody>
      </p:sp>
      <p:sp>
        <p:nvSpPr>
          <p:cNvPr id="176" name="Google Shape;176;p7"/>
          <p:cNvSpPr/>
          <p:nvPr/>
        </p:nvSpPr>
        <p:spPr>
          <a:xfrm>
            <a:off x="9875520" y="3904488"/>
            <a:ext cx="15544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B4D0"/>
              </a:buClr>
              <a:buSzPts val="1050"/>
              <a:buFont typeface="Calibri"/>
              <a:buNone/>
            </a:pPr>
            <a:r>
              <a:rPr b="0" i="0" lang="en-US" sz="1050" u="none" cap="none" strike="noStrike">
                <a:solidFill>
                  <a:srgbClr val="A3B4D0"/>
                </a:solidFill>
                <a:latin typeface="Calibri"/>
                <a:ea typeface="Calibri"/>
                <a:cs typeface="Calibri"/>
                <a:sym typeface="Calibri"/>
              </a:rPr>
              <a:t>power (on-board 3.3 V reg)</a:t>
            </a:r>
            <a:endParaRPr b="0" i="0" sz="1050" u="none" cap="none" strike="noStrike">
              <a:solidFill>
                <a:schemeClr val="dk1"/>
              </a:solidFill>
              <a:latin typeface="Calibri"/>
              <a:ea typeface="Calibri"/>
              <a:cs typeface="Calibri"/>
              <a:sym typeface="Calibri"/>
            </a:endParaRPr>
          </a:p>
        </p:txBody>
      </p:sp>
      <p:sp>
        <p:nvSpPr>
          <p:cNvPr id="177" name="Google Shape;177;p7"/>
          <p:cNvSpPr/>
          <p:nvPr/>
        </p:nvSpPr>
        <p:spPr>
          <a:xfrm>
            <a:off x="6035040" y="4690872"/>
            <a:ext cx="5486400" cy="713232"/>
          </a:xfrm>
          <a:prstGeom prst="roundRect">
            <a:avLst>
              <a:gd fmla="val 11538"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a:off x="6217920" y="4690872"/>
            <a:ext cx="169164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300"/>
              <a:buFont typeface="Courier New"/>
              <a:buNone/>
            </a:pPr>
            <a:r>
              <a:rPr b="1" i="0" lang="en-US" sz="1300" u="none" cap="none" strike="noStrike">
                <a:solidFill>
                  <a:srgbClr val="F4F7FB"/>
                </a:solidFill>
                <a:latin typeface="Courier New"/>
                <a:ea typeface="Courier New"/>
                <a:cs typeface="Courier New"/>
                <a:sym typeface="Courier New"/>
              </a:rPr>
              <a:t>GND</a:t>
            </a:r>
            <a:endParaRPr b="0" i="0" sz="1300" u="none" cap="none" strike="noStrike">
              <a:solidFill>
                <a:schemeClr val="dk1"/>
              </a:solidFill>
              <a:latin typeface="Calibri"/>
              <a:ea typeface="Calibri"/>
              <a:cs typeface="Calibri"/>
              <a:sym typeface="Calibri"/>
            </a:endParaRPr>
          </a:p>
        </p:txBody>
      </p:sp>
      <p:sp>
        <p:nvSpPr>
          <p:cNvPr id="179" name="Google Shape;179;p7"/>
          <p:cNvSpPr/>
          <p:nvPr/>
        </p:nvSpPr>
        <p:spPr>
          <a:xfrm>
            <a:off x="7818120" y="4690872"/>
            <a:ext cx="36576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2E8"/>
              </a:buClr>
              <a:buSzPts val="1500"/>
              <a:buFont typeface="Calibri"/>
              <a:buNone/>
            </a:pPr>
            <a:r>
              <a:rPr b="1" i="0" lang="en-US" sz="1500" u="none" cap="none" strike="noStrike">
                <a:solidFill>
                  <a:srgbClr val="35D2E8"/>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80" name="Google Shape;180;p7"/>
          <p:cNvSpPr/>
          <p:nvPr/>
        </p:nvSpPr>
        <p:spPr>
          <a:xfrm>
            <a:off x="8183880" y="4690872"/>
            <a:ext cx="17373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B44C"/>
              </a:buClr>
              <a:buSzPts val="1300"/>
              <a:buFont typeface="Courier New"/>
              <a:buNone/>
            </a:pPr>
            <a:r>
              <a:rPr b="1" i="0" lang="en-US" sz="1300" u="none" cap="none" strike="noStrike">
                <a:solidFill>
                  <a:srgbClr val="F5B44C"/>
                </a:solidFill>
                <a:latin typeface="Courier New"/>
                <a:ea typeface="Courier New"/>
                <a:cs typeface="Courier New"/>
                <a:sym typeface="Courier New"/>
              </a:rPr>
              <a:t>GND</a:t>
            </a:r>
            <a:endParaRPr b="0" i="0" sz="1300" u="none" cap="none" strike="noStrike">
              <a:solidFill>
                <a:schemeClr val="dk1"/>
              </a:solidFill>
              <a:latin typeface="Calibri"/>
              <a:ea typeface="Calibri"/>
              <a:cs typeface="Calibri"/>
              <a:sym typeface="Calibri"/>
            </a:endParaRPr>
          </a:p>
        </p:txBody>
      </p:sp>
      <p:sp>
        <p:nvSpPr>
          <p:cNvPr id="181" name="Google Shape;181;p7"/>
          <p:cNvSpPr/>
          <p:nvPr/>
        </p:nvSpPr>
        <p:spPr>
          <a:xfrm>
            <a:off x="9875520" y="4690872"/>
            <a:ext cx="15544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B4D0"/>
              </a:buClr>
              <a:buSzPts val="1050"/>
              <a:buFont typeface="Calibri"/>
              <a:buNone/>
            </a:pPr>
            <a:r>
              <a:rPr b="0" i="0" lang="en-US" sz="1050" u="none" cap="none" strike="noStrike">
                <a:solidFill>
                  <a:srgbClr val="A3B4D0"/>
                </a:solidFill>
                <a:latin typeface="Calibri"/>
                <a:ea typeface="Calibri"/>
                <a:cs typeface="Calibri"/>
                <a:sym typeface="Calibri"/>
              </a:rPr>
              <a:t>shared ground, required</a:t>
            </a:r>
            <a:endParaRPr b="0" i="0" sz="1050" u="none" cap="none" strike="noStrike">
              <a:solidFill>
                <a:schemeClr val="dk1"/>
              </a:solidFill>
              <a:latin typeface="Calibri"/>
              <a:ea typeface="Calibri"/>
              <a:cs typeface="Calibri"/>
              <a:sym typeface="Calibri"/>
            </a:endParaRPr>
          </a:p>
        </p:txBody>
      </p:sp>
      <p:sp>
        <p:nvSpPr>
          <p:cNvPr id="182" name="Google Shape;182;p7"/>
          <p:cNvSpPr/>
          <p:nvPr/>
        </p:nvSpPr>
        <p:spPr>
          <a:xfrm>
            <a:off x="6035040" y="5522976"/>
            <a:ext cx="5486400" cy="548640"/>
          </a:xfrm>
          <a:prstGeom prst="roundRect">
            <a:avLst>
              <a:gd fmla="val 16667" name="adj"/>
            </a:avLst>
          </a:prstGeom>
          <a:solidFill>
            <a:srgbClr val="20364F"/>
          </a:solidFill>
          <a:ln cap="flat" cmpd="sng" w="15875">
            <a:solidFill>
              <a:srgbClr val="35D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6263640" y="5522976"/>
            <a:ext cx="5120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300"/>
              <a:buFont typeface="Calibri"/>
              <a:buNone/>
            </a:pPr>
            <a:r>
              <a:rPr b="1" i="0" lang="en-US" sz="1300" u="none" cap="none" strike="noStrike">
                <a:solidFill>
                  <a:srgbClr val="35D2E8"/>
                </a:solidFill>
                <a:latin typeface="Calibri"/>
                <a:ea typeface="Calibri"/>
                <a:cs typeface="Calibri"/>
                <a:sym typeface="Calibri"/>
              </a:rPr>
              <a:t>Only RX is needed.</a:t>
            </a:r>
            <a:r>
              <a:rPr b="0" i="0" lang="en-US" sz="1300" u="none" cap="none" strike="noStrike">
                <a:solidFill>
                  <a:srgbClr val="F4F7FB"/>
                </a:solidFill>
                <a:latin typeface="Calibri"/>
                <a:ea typeface="Calibri"/>
                <a:cs typeface="Calibri"/>
                <a:sym typeface="Calibri"/>
              </a:rPr>
              <a:t>  The phone talks, the board listens.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30"/>
        </a:solidFill>
      </p:bgPr>
    </p:bg>
    <p:spTree>
      <p:nvGrpSpPr>
        <p:cNvPr id="188" name="Shape 188"/>
        <p:cNvGrpSpPr/>
        <p:nvPr/>
      </p:nvGrpSpPr>
      <p:grpSpPr>
        <a:xfrm>
          <a:off x="0" y="0"/>
          <a:ext cx="0" cy="0"/>
          <a:chOff x="0" y="0"/>
          <a:chExt cx="0" cy="0"/>
        </a:xfrm>
      </p:grpSpPr>
      <p:sp>
        <p:nvSpPr>
          <p:cNvPr id="189" name="Google Shape;189;p8"/>
          <p:cNvSpPr/>
          <p:nvPr/>
        </p:nvSpPr>
        <p:spPr>
          <a:xfrm>
            <a:off x="640080" y="475488"/>
            <a:ext cx="786384" cy="786384"/>
          </a:xfrm>
          <a:prstGeom prst="ellipse">
            <a:avLst/>
          </a:prstGeom>
          <a:solidFill>
            <a:srgbClr val="35D2E8"/>
          </a:solidFill>
          <a:ln>
            <a:noFill/>
          </a:ln>
          <a:effectLst>
            <a:outerShdw blurRad="101600" rotWithShape="0" algn="bl" dir="54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0" name="Google Shape;190;p8"/>
          <p:cNvPicPr preferRelativeResize="0"/>
          <p:nvPr/>
        </p:nvPicPr>
        <p:blipFill rotWithShape="1">
          <a:blip r:embed="rId3">
            <a:alphaModFix/>
          </a:blip>
          <a:srcRect b="0" l="0" r="0" t="0"/>
          <a:stretch/>
        </p:blipFill>
        <p:spPr>
          <a:xfrm>
            <a:off x="859536" y="694944"/>
            <a:ext cx="347472" cy="347472"/>
          </a:xfrm>
          <a:prstGeom prst="rect">
            <a:avLst/>
          </a:prstGeom>
          <a:noFill/>
          <a:ln>
            <a:noFill/>
          </a:ln>
        </p:spPr>
      </p:pic>
      <p:sp>
        <p:nvSpPr>
          <p:cNvPr id="191" name="Google Shape;191;p8"/>
          <p:cNvSpPr/>
          <p:nvPr/>
        </p:nvSpPr>
        <p:spPr>
          <a:xfrm>
            <a:off x="1627632" y="502920"/>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200"/>
              <a:buFont typeface="Calibri"/>
              <a:buNone/>
            </a:pPr>
            <a:r>
              <a:rPr b="1" i="0" lang="en-US" sz="1200" u="none" cap="none" strike="noStrike">
                <a:solidFill>
                  <a:srgbClr val="35D2E8"/>
                </a:solidFill>
                <a:latin typeface="Calibri"/>
                <a:ea typeface="Calibri"/>
                <a:cs typeface="Calibri"/>
                <a:sym typeface="Calibri"/>
              </a:rPr>
              <a:t>CODE FLOW</a:t>
            </a:r>
            <a:endParaRPr b="0" i="0" sz="1200" u="none" cap="none" strike="noStrike">
              <a:solidFill>
                <a:schemeClr val="dk1"/>
              </a:solidFill>
              <a:latin typeface="Calibri"/>
              <a:ea typeface="Calibri"/>
              <a:cs typeface="Calibri"/>
              <a:sym typeface="Calibri"/>
            </a:endParaRPr>
          </a:p>
        </p:txBody>
      </p:sp>
      <p:sp>
        <p:nvSpPr>
          <p:cNvPr id="192" name="Google Shape;192;p8"/>
          <p:cNvSpPr/>
          <p:nvPr/>
        </p:nvSpPr>
        <p:spPr>
          <a:xfrm>
            <a:off x="1600200" y="749808"/>
            <a:ext cx="10241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3000"/>
              <a:buFont typeface="Calibri"/>
              <a:buNone/>
            </a:pPr>
            <a:r>
              <a:rPr b="1" i="0" lang="en-US" sz="3000" u="none" cap="none" strike="noStrike">
                <a:solidFill>
                  <a:srgbClr val="F4F7FB"/>
                </a:solidFill>
                <a:latin typeface="Calibri"/>
                <a:ea typeface="Calibri"/>
                <a:cs typeface="Calibri"/>
                <a:sym typeface="Calibri"/>
              </a:rPr>
              <a:t>Firmware: Setup Order</a:t>
            </a:r>
            <a:endParaRPr b="0" i="0" sz="3000" u="none" cap="none" strike="noStrike">
              <a:solidFill>
                <a:schemeClr val="dk1"/>
              </a:solidFill>
              <a:latin typeface="Calibri"/>
              <a:ea typeface="Calibri"/>
              <a:cs typeface="Calibri"/>
              <a:sym typeface="Calibri"/>
            </a:endParaRPr>
          </a:p>
        </p:txBody>
      </p:sp>
      <p:sp>
        <p:nvSpPr>
          <p:cNvPr id="193" name="Google Shape;193;p8"/>
          <p:cNvSpPr/>
          <p:nvPr/>
        </p:nvSpPr>
        <p:spPr>
          <a:xfrm>
            <a:off x="685800" y="1737360"/>
            <a:ext cx="10835640" cy="868680"/>
          </a:xfrm>
          <a:prstGeom prst="roundRect">
            <a:avLst>
              <a:gd fmla="val 12632" name="adj"/>
            </a:avLst>
          </a:prstGeom>
          <a:solidFill>
            <a:srgbClr val="20364F"/>
          </a:solidFill>
          <a:ln cap="flat" cmpd="sng" w="19050">
            <a:solidFill>
              <a:srgbClr val="F5B4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4" name="Google Shape;194;p8"/>
          <p:cNvPicPr preferRelativeResize="0"/>
          <p:nvPr/>
        </p:nvPicPr>
        <p:blipFill rotWithShape="1">
          <a:blip r:embed="rId4">
            <a:alphaModFix/>
          </a:blip>
          <a:srcRect b="0" l="0" r="0" t="0"/>
          <a:stretch/>
        </p:blipFill>
        <p:spPr>
          <a:xfrm>
            <a:off x="960120" y="1993392"/>
            <a:ext cx="384048" cy="384048"/>
          </a:xfrm>
          <a:prstGeom prst="rect">
            <a:avLst/>
          </a:prstGeom>
          <a:noFill/>
          <a:ln>
            <a:noFill/>
          </a:ln>
        </p:spPr>
      </p:pic>
      <p:sp>
        <p:nvSpPr>
          <p:cNvPr id="195" name="Google Shape;195;p8"/>
          <p:cNvSpPr/>
          <p:nvPr/>
        </p:nvSpPr>
        <p:spPr>
          <a:xfrm>
            <a:off x="1554480" y="1737360"/>
            <a:ext cx="9784080" cy="86868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F5B44C"/>
              </a:buClr>
              <a:buSzPts val="1450"/>
              <a:buFont typeface="Calibri"/>
              <a:buNone/>
            </a:pPr>
            <a:r>
              <a:rPr b="1" i="0" lang="en-US" sz="1450" u="none" cap="none" strike="noStrike">
                <a:solidFill>
                  <a:srgbClr val="F5B44C"/>
                </a:solidFill>
                <a:latin typeface="Calibri"/>
                <a:ea typeface="Calibri"/>
                <a:cs typeface="Calibri"/>
                <a:sym typeface="Calibri"/>
              </a:rPr>
              <a:t>The 10 songs are baked into the program. </a:t>
            </a:r>
            <a:r>
              <a:rPr b="0" i="0" lang="en-US" sz="1450" u="none" cap="none" strike="noStrike">
                <a:solidFill>
                  <a:srgbClr val="F4F7FB"/>
                </a:solidFill>
                <a:latin typeface="Calibri"/>
                <a:ea typeface="Calibri"/>
                <a:cs typeface="Calibri"/>
                <a:sym typeface="Calibri"/>
              </a:rPr>
              <a:t>Bluetooth sends only a single character to choose one, so nothing but that one byte ever travels over the air.</a:t>
            </a:r>
            <a:endParaRPr b="0" i="0" sz="1450" u="none" cap="none" strike="noStrike">
              <a:solidFill>
                <a:schemeClr val="dk1"/>
              </a:solidFill>
              <a:latin typeface="Calibri"/>
              <a:ea typeface="Calibri"/>
              <a:cs typeface="Calibri"/>
              <a:sym typeface="Calibri"/>
            </a:endParaRPr>
          </a:p>
        </p:txBody>
      </p:sp>
      <p:sp>
        <p:nvSpPr>
          <p:cNvPr id="196" name="Google Shape;196;p8"/>
          <p:cNvSpPr/>
          <p:nvPr/>
        </p:nvSpPr>
        <p:spPr>
          <a:xfrm>
            <a:off x="685800" y="283464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600"/>
              <a:buFont typeface="Calibri"/>
              <a:buNone/>
            </a:pPr>
            <a:r>
              <a:rPr b="1" i="0" lang="en-US" sz="1600" u="none" cap="none" strike="noStrike">
                <a:solidFill>
                  <a:srgbClr val="F4F7FB"/>
                </a:solidFill>
                <a:latin typeface="Calibri"/>
                <a:ea typeface="Calibri"/>
                <a:cs typeface="Calibri"/>
                <a:sym typeface="Calibri"/>
              </a:rPr>
              <a:t>What main() configures, in order</a:t>
            </a:r>
            <a:endParaRPr b="0" i="0" sz="1600" u="none" cap="none" strike="noStrike">
              <a:solidFill>
                <a:schemeClr val="dk1"/>
              </a:solidFill>
              <a:latin typeface="Calibri"/>
              <a:ea typeface="Calibri"/>
              <a:cs typeface="Calibri"/>
              <a:sym typeface="Calibri"/>
            </a:endParaRPr>
          </a:p>
        </p:txBody>
      </p:sp>
      <p:sp>
        <p:nvSpPr>
          <p:cNvPr id="197" name="Google Shape;197;p8"/>
          <p:cNvSpPr/>
          <p:nvPr/>
        </p:nvSpPr>
        <p:spPr>
          <a:xfrm>
            <a:off x="685800" y="3291840"/>
            <a:ext cx="6720840" cy="658368"/>
          </a:xfrm>
          <a:prstGeom prst="roundRect">
            <a:avLst>
              <a:gd fmla="val 13889"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868680" y="3438144"/>
            <a:ext cx="365760" cy="365760"/>
          </a:xfrm>
          <a:prstGeom prst="ellipse">
            <a:avLst/>
          </a:prstGeom>
          <a:solidFill>
            <a:srgbClr val="35D2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868680" y="343814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A30"/>
              </a:buClr>
              <a:buSzPts val="1400"/>
              <a:buFont typeface="Calibri"/>
              <a:buNone/>
            </a:pPr>
            <a:r>
              <a:rPr b="1" i="0" lang="en-US" sz="1400" u="none" cap="none" strike="noStrike">
                <a:solidFill>
                  <a:srgbClr val="0E1A30"/>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200" name="Google Shape;200;p8"/>
          <p:cNvSpPr/>
          <p:nvPr/>
        </p:nvSpPr>
        <p:spPr>
          <a:xfrm>
            <a:off x="1371600" y="3364992"/>
            <a:ext cx="44805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400"/>
              <a:buFont typeface="Calibri"/>
              <a:buNone/>
            </a:pPr>
            <a:r>
              <a:rPr b="1" i="0" lang="en-US" sz="1400" u="none" cap="none" strike="noStrike">
                <a:solidFill>
                  <a:srgbClr val="F4F7FB"/>
                </a:solidFill>
                <a:latin typeface="Calibri"/>
                <a:ea typeface="Calibri"/>
                <a:cs typeface="Calibri"/>
                <a:sym typeface="Calibri"/>
              </a:rPr>
              <a:t>GPIO - PC4 as buzzer output</a:t>
            </a:r>
            <a:endParaRPr b="0" i="0" sz="1400" u="none" cap="none" strike="noStrike">
              <a:solidFill>
                <a:schemeClr val="dk1"/>
              </a:solidFill>
              <a:latin typeface="Calibri"/>
              <a:ea typeface="Calibri"/>
              <a:cs typeface="Calibri"/>
              <a:sym typeface="Calibri"/>
            </a:endParaRPr>
          </a:p>
        </p:txBody>
      </p:sp>
      <p:sp>
        <p:nvSpPr>
          <p:cNvPr id="201" name="Google Shape;201;p8"/>
          <p:cNvSpPr/>
          <p:nvPr/>
        </p:nvSpPr>
        <p:spPr>
          <a:xfrm>
            <a:off x="1371600" y="3675888"/>
            <a:ext cx="4480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B4D0"/>
              </a:buClr>
              <a:buSzPts val="1100"/>
              <a:buFont typeface="Calibri"/>
              <a:buNone/>
            </a:pPr>
            <a:r>
              <a:rPr b="0" i="0" lang="en-US" sz="1100" u="none" cap="none" strike="noStrike">
                <a:solidFill>
                  <a:srgbClr val="A3B4D0"/>
                </a:solidFill>
                <a:latin typeface="Calibri"/>
                <a:ea typeface="Calibri"/>
                <a:cs typeface="Calibri"/>
                <a:sym typeface="Calibri"/>
              </a:rPr>
              <a:t>Drive the buzzer pin high and low</a:t>
            </a:r>
            <a:endParaRPr b="0" i="0" sz="1100" u="none" cap="none" strike="noStrike">
              <a:solidFill>
                <a:schemeClr val="dk1"/>
              </a:solidFill>
              <a:latin typeface="Calibri"/>
              <a:ea typeface="Calibri"/>
              <a:cs typeface="Calibri"/>
              <a:sym typeface="Calibri"/>
            </a:endParaRPr>
          </a:p>
        </p:txBody>
      </p:sp>
      <p:sp>
        <p:nvSpPr>
          <p:cNvPr id="202" name="Google Shape;202;p8"/>
          <p:cNvSpPr/>
          <p:nvPr/>
        </p:nvSpPr>
        <p:spPr>
          <a:xfrm>
            <a:off x="5943600" y="3465576"/>
            <a:ext cx="845820" cy="310896"/>
          </a:xfrm>
          <a:prstGeom prst="roundRect">
            <a:avLst>
              <a:gd fmla="val 20588" name="adj"/>
            </a:avLst>
          </a:prstGeom>
          <a:solidFill>
            <a:srgbClr val="0E1A30"/>
          </a:solidFill>
          <a:ln cap="flat" cmpd="sng" w="15875">
            <a:solidFill>
              <a:srgbClr val="F5B4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5943600" y="3465576"/>
            <a:ext cx="8458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B44C"/>
              </a:buClr>
              <a:buSzPts val="1050"/>
              <a:buFont typeface="Calibri"/>
              <a:buNone/>
            </a:pPr>
            <a:r>
              <a:rPr b="1" i="0" lang="en-US" sz="1050" u="none" cap="none" strike="noStrike">
                <a:solidFill>
                  <a:srgbClr val="F5B44C"/>
                </a:solidFill>
                <a:latin typeface="Calibri"/>
                <a:ea typeface="Calibri"/>
                <a:cs typeface="Calibri"/>
                <a:sym typeface="Calibri"/>
              </a:rPr>
              <a:t>LAB 1</a:t>
            </a:r>
            <a:endParaRPr b="0" i="0" sz="1050" u="none" cap="none" strike="noStrike">
              <a:solidFill>
                <a:schemeClr val="dk1"/>
              </a:solidFill>
              <a:latin typeface="Calibri"/>
              <a:ea typeface="Calibri"/>
              <a:cs typeface="Calibri"/>
              <a:sym typeface="Calibri"/>
            </a:endParaRPr>
          </a:p>
        </p:txBody>
      </p:sp>
      <p:sp>
        <p:nvSpPr>
          <p:cNvPr id="204" name="Google Shape;204;p8"/>
          <p:cNvSpPr/>
          <p:nvPr/>
        </p:nvSpPr>
        <p:spPr>
          <a:xfrm>
            <a:off x="685800" y="4023360"/>
            <a:ext cx="6720840" cy="658368"/>
          </a:xfrm>
          <a:prstGeom prst="roundRect">
            <a:avLst>
              <a:gd fmla="val 13889"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868680" y="4169664"/>
            <a:ext cx="365760" cy="365760"/>
          </a:xfrm>
          <a:prstGeom prst="ellipse">
            <a:avLst/>
          </a:prstGeom>
          <a:solidFill>
            <a:srgbClr val="35D2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868680" y="416966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A30"/>
              </a:buClr>
              <a:buSzPts val="1400"/>
              <a:buFont typeface="Calibri"/>
              <a:buNone/>
            </a:pPr>
            <a:r>
              <a:rPr b="1" i="0" lang="en-US" sz="1400" u="none" cap="none" strike="noStrike">
                <a:solidFill>
                  <a:srgbClr val="0E1A30"/>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207" name="Google Shape;207;p8"/>
          <p:cNvSpPr/>
          <p:nvPr/>
        </p:nvSpPr>
        <p:spPr>
          <a:xfrm>
            <a:off x="1371600" y="4096512"/>
            <a:ext cx="44805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400"/>
              <a:buFont typeface="Calibri"/>
              <a:buNone/>
            </a:pPr>
            <a:r>
              <a:rPr b="1" i="0" lang="en-US" sz="1400" u="none" cap="none" strike="noStrike">
                <a:solidFill>
                  <a:srgbClr val="F4F7FB"/>
                </a:solidFill>
                <a:latin typeface="Calibri"/>
                <a:ea typeface="Calibri"/>
                <a:cs typeface="Calibri"/>
                <a:sym typeface="Calibri"/>
              </a:rPr>
              <a:t>Timer0 - 1 us time base</a:t>
            </a:r>
            <a:endParaRPr b="0" i="0" sz="1400" u="none" cap="none" strike="noStrike">
              <a:solidFill>
                <a:schemeClr val="dk1"/>
              </a:solidFill>
              <a:latin typeface="Calibri"/>
              <a:ea typeface="Calibri"/>
              <a:cs typeface="Calibri"/>
              <a:sym typeface="Calibri"/>
            </a:endParaRPr>
          </a:p>
        </p:txBody>
      </p:sp>
      <p:sp>
        <p:nvSpPr>
          <p:cNvPr id="208" name="Google Shape;208;p8"/>
          <p:cNvSpPr/>
          <p:nvPr/>
        </p:nvSpPr>
        <p:spPr>
          <a:xfrm>
            <a:off x="1371600" y="4407408"/>
            <a:ext cx="4480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B4D0"/>
              </a:buClr>
              <a:buSzPts val="1100"/>
              <a:buFont typeface="Calibri"/>
              <a:buNone/>
            </a:pPr>
            <a:r>
              <a:rPr b="0" i="0" lang="en-US" sz="1100" u="none" cap="none" strike="noStrike">
                <a:solidFill>
                  <a:srgbClr val="A3B4D0"/>
                </a:solidFill>
                <a:latin typeface="Calibri"/>
                <a:ea typeface="Calibri"/>
                <a:cs typeface="Calibri"/>
                <a:sym typeface="Calibri"/>
              </a:rPr>
              <a:t>Sets how long each note is held</a:t>
            </a:r>
            <a:endParaRPr b="0" i="0" sz="1100" u="none" cap="none" strike="noStrike">
              <a:solidFill>
                <a:schemeClr val="dk1"/>
              </a:solidFill>
              <a:latin typeface="Calibri"/>
              <a:ea typeface="Calibri"/>
              <a:cs typeface="Calibri"/>
              <a:sym typeface="Calibri"/>
            </a:endParaRPr>
          </a:p>
        </p:txBody>
      </p:sp>
      <p:sp>
        <p:nvSpPr>
          <p:cNvPr id="209" name="Google Shape;209;p8"/>
          <p:cNvSpPr/>
          <p:nvPr/>
        </p:nvSpPr>
        <p:spPr>
          <a:xfrm>
            <a:off x="5943600" y="4197096"/>
            <a:ext cx="845820" cy="310896"/>
          </a:xfrm>
          <a:prstGeom prst="roundRect">
            <a:avLst>
              <a:gd fmla="val 20588" name="adj"/>
            </a:avLst>
          </a:prstGeom>
          <a:solidFill>
            <a:srgbClr val="0E1A30"/>
          </a:solidFill>
          <a:ln cap="flat" cmpd="sng" w="15875">
            <a:solidFill>
              <a:srgbClr val="F5B4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p:nvPr/>
        </p:nvSpPr>
        <p:spPr>
          <a:xfrm>
            <a:off x="5943600" y="4197096"/>
            <a:ext cx="8458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B44C"/>
              </a:buClr>
              <a:buSzPts val="1050"/>
              <a:buFont typeface="Calibri"/>
              <a:buNone/>
            </a:pPr>
            <a:r>
              <a:rPr b="1" i="0" lang="en-US" sz="1050" u="none" cap="none" strike="noStrike">
                <a:solidFill>
                  <a:srgbClr val="F5B44C"/>
                </a:solidFill>
                <a:latin typeface="Calibri"/>
                <a:ea typeface="Calibri"/>
                <a:cs typeface="Calibri"/>
                <a:sym typeface="Calibri"/>
              </a:rPr>
              <a:t>LAB 2</a:t>
            </a:r>
            <a:endParaRPr b="0" i="0" sz="1050" u="none" cap="none" strike="noStrike">
              <a:solidFill>
                <a:schemeClr val="dk1"/>
              </a:solidFill>
              <a:latin typeface="Calibri"/>
              <a:ea typeface="Calibri"/>
              <a:cs typeface="Calibri"/>
              <a:sym typeface="Calibri"/>
            </a:endParaRPr>
          </a:p>
        </p:txBody>
      </p:sp>
      <p:sp>
        <p:nvSpPr>
          <p:cNvPr id="211" name="Google Shape;211;p8"/>
          <p:cNvSpPr/>
          <p:nvPr/>
        </p:nvSpPr>
        <p:spPr>
          <a:xfrm>
            <a:off x="685800" y="4754880"/>
            <a:ext cx="6720840" cy="658368"/>
          </a:xfrm>
          <a:prstGeom prst="roundRect">
            <a:avLst>
              <a:gd fmla="val 13889"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868680" y="4901184"/>
            <a:ext cx="365760" cy="365760"/>
          </a:xfrm>
          <a:prstGeom prst="ellipse">
            <a:avLst/>
          </a:prstGeom>
          <a:solidFill>
            <a:srgbClr val="35D2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868680" y="490118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A30"/>
              </a:buClr>
              <a:buSzPts val="1400"/>
              <a:buFont typeface="Calibri"/>
              <a:buNone/>
            </a:pPr>
            <a:r>
              <a:rPr b="1" i="0" lang="en-US" sz="1400" u="none" cap="none" strike="noStrike">
                <a:solidFill>
                  <a:srgbClr val="0E1A30"/>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214" name="Google Shape;214;p8"/>
          <p:cNvSpPr/>
          <p:nvPr/>
        </p:nvSpPr>
        <p:spPr>
          <a:xfrm>
            <a:off x="1371600" y="4828032"/>
            <a:ext cx="44805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400"/>
              <a:buFont typeface="Calibri"/>
              <a:buNone/>
            </a:pPr>
            <a:r>
              <a:rPr b="1" i="0" lang="en-US" sz="1400" u="none" cap="none" strike="noStrike">
                <a:solidFill>
                  <a:srgbClr val="F4F7FB"/>
                </a:solidFill>
                <a:latin typeface="Calibri"/>
                <a:ea typeface="Calibri"/>
                <a:cs typeface="Calibri"/>
                <a:sym typeface="Calibri"/>
              </a:rPr>
              <a:t>UART5 - 9600 8N1 on PE4</a:t>
            </a:r>
            <a:endParaRPr b="0" i="0" sz="1400" u="none" cap="none" strike="noStrike">
              <a:solidFill>
                <a:schemeClr val="dk1"/>
              </a:solidFill>
              <a:latin typeface="Calibri"/>
              <a:ea typeface="Calibri"/>
              <a:cs typeface="Calibri"/>
              <a:sym typeface="Calibri"/>
            </a:endParaRPr>
          </a:p>
        </p:txBody>
      </p:sp>
      <p:sp>
        <p:nvSpPr>
          <p:cNvPr id="215" name="Google Shape;215;p8"/>
          <p:cNvSpPr/>
          <p:nvPr/>
        </p:nvSpPr>
        <p:spPr>
          <a:xfrm>
            <a:off x="1371600" y="5138928"/>
            <a:ext cx="4480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B4D0"/>
              </a:buClr>
              <a:buSzPts val="1100"/>
              <a:buFont typeface="Calibri"/>
              <a:buNone/>
            </a:pPr>
            <a:r>
              <a:rPr b="0" i="0" lang="en-US" sz="1100" u="none" cap="none" strike="noStrike">
                <a:solidFill>
                  <a:srgbClr val="A3B4D0"/>
                </a:solidFill>
                <a:latin typeface="Calibri"/>
                <a:ea typeface="Calibri"/>
                <a:cs typeface="Calibri"/>
                <a:sym typeface="Calibri"/>
              </a:rPr>
              <a:t>Receives the command byte</a:t>
            </a:r>
            <a:endParaRPr b="0" i="0" sz="1100" u="none" cap="none" strike="noStrike">
              <a:solidFill>
                <a:schemeClr val="dk1"/>
              </a:solidFill>
              <a:latin typeface="Calibri"/>
              <a:ea typeface="Calibri"/>
              <a:cs typeface="Calibri"/>
              <a:sym typeface="Calibri"/>
            </a:endParaRPr>
          </a:p>
        </p:txBody>
      </p:sp>
      <p:sp>
        <p:nvSpPr>
          <p:cNvPr id="216" name="Google Shape;216;p8"/>
          <p:cNvSpPr/>
          <p:nvPr/>
        </p:nvSpPr>
        <p:spPr>
          <a:xfrm>
            <a:off x="5943600" y="4928616"/>
            <a:ext cx="845820" cy="310896"/>
          </a:xfrm>
          <a:prstGeom prst="roundRect">
            <a:avLst>
              <a:gd fmla="val 20588" name="adj"/>
            </a:avLst>
          </a:prstGeom>
          <a:solidFill>
            <a:srgbClr val="0E1A30"/>
          </a:solidFill>
          <a:ln cap="flat" cmpd="sng" w="15875">
            <a:solidFill>
              <a:srgbClr val="F5B4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a:off x="5943600" y="4928616"/>
            <a:ext cx="8458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B44C"/>
              </a:buClr>
              <a:buSzPts val="1050"/>
              <a:buFont typeface="Calibri"/>
              <a:buNone/>
            </a:pPr>
            <a:r>
              <a:rPr b="1" i="0" lang="en-US" sz="1050" u="none" cap="none" strike="noStrike">
                <a:solidFill>
                  <a:srgbClr val="F5B44C"/>
                </a:solidFill>
                <a:latin typeface="Calibri"/>
                <a:ea typeface="Calibri"/>
                <a:cs typeface="Calibri"/>
                <a:sym typeface="Calibri"/>
              </a:rPr>
              <a:t>LAB 6</a:t>
            </a:r>
            <a:endParaRPr b="0" i="0" sz="1050" u="none" cap="none" strike="noStrike">
              <a:solidFill>
                <a:schemeClr val="dk1"/>
              </a:solidFill>
              <a:latin typeface="Calibri"/>
              <a:ea typeface="Calibri"/>
              <a:cs typeface="Calibri"/>
              <a:sym typeface="Calibri"/>
            </a:endParaRPr>
          </a:p>
        </p:txBody>
      </p:sp>
      <p:sp>
        <p:nvSpPr>
          <p:cNvPr id="218" name="Google Shape;218;p8"/>
          <p:cNvSpPr/>
          <p:nvPr/>
        </p:nvSpPr>
        <p:spPr>
          <a:xfrm>
            <a:off x="685800" y="5486400"/>
            <a:ext cx="6720840" cy="658368"/>
          </a:xfrm>
          <a:prstGeom prst="roundRect">
            <a:avLst>
              <a:gd fmla="val 13889"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868680" y="5632704"/>
            <a:ext cx="365760" cy="365760"/>
          </a:xfrm>
          <a:prstGeom prst="ellipse">
            <a:avLst/>
          </a:prstGeom>
          <a:solidFill>
            <a:srgbClr val="35D2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a:off x="868680" y="563270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1A30"/>
              </a:buClr>
              <a:buSzPts val="1400"/>
              <a:buFont typeface="Calibri"/>
              <a:buNone/>
            </a:pPr>
            <a:r>
              <a:rPr b="1" i="0" lang="en-US" sz="1400" u="none" cap="none" strike="noStrike">
                <a:solidFill>
                  <a:srgbClr val="0E1A30"/>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221" name="Google Shape;221;p8"/>
          <p:cNvSpPr/>
          <p:nvPr/>
        </p:nvSpPr>
        <p:spPr>
          <a:xfrm>
            <a:off x="1371600" y="5559552"/>
            <a:ext cx="44805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400"/>
              <a:buFont typeface="Calibri"/>
              <a:buNone/>
            </a:pPr>
            <a:r>
              <a:rPr b="1" i="0" lang="en-US" sz="1400" u="none" cap="none" strike="noStrike">
                <a:solidFill>
                  <a:srgbClr val="F4F7FB"/>
                </a:solidFill>
                <a:latin typeface="Calibri"/>
                <a:ea typeface="Calibri"/>
                <a:cs typeface="Calibri"/>
                <a:sym typeface="Calibri"/>
              </a:rPr>
              <a:t>NVIC - enable UART5 RX interrupt</a:t>
            </a:r>
            <a:endParaRPr b="0" i="0" sz="1400" u="none" cap="none" strike="noStrike">
              <a:solidFill>
                <a:schemeClr val="dk1"/>
              </a:solidFill>
              <a:latin typeface="Calibri"/>
              <a:ea typeface="Calibri"/>
              <a:cs typeface="Calibri"/>
              <a:sym typeface="Calibri"/>
            </a:endParaRPr>
          </a:p>
        </p:txBody>
      </p:sp>
      <p:sp>
        <p:nvSpPr>
          <p:cNvPr id="222" name="Google Shape;222;p8"/>
          <p:cNvSpPr/>
          <p:nvPr/>
        </p:nvSpPr>
        <p:spPr>
          <a:xfrm>
            <a:off x="1371600" y="5870448"/>
            <a:ext cx="4480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B4D0"/>
              </a:buClr>
              <a:buSzPts val="1100"/>
              <a:buFont typeface="Calibri"/>
              <a:buNone/>
            </a:pPr>
            <a:r>
              <a:rPr b="0" i="0" lang="en-US" sz="1100" u="none" cap="none" strike="noStrike">
                <a:solidFill>
                  <a:srgbClr val="A3B4D0"/>
                </a:solidFill>
                <a:latin typeface="Calibri"/>
                <a:ea typeface="Calibri"/>
                <a:cs typeface="Calibri"/>
                <a:sym typeface="Calibri"/>
              </a:rPr>
              <a:t>Runs the handler on each byte</a:t>
            </a:r>
            <a:endParaRPr b="0" i="0" sz="1100" u="none" cap="none" strike="noStrike">
              <a:solidFill>
                <a:schemeClr val="dk1"/>
              </a:solidFill>
              <a:latin typeface="Calibri"/>
              <a:ea typeface="Calibri"/>
              <a:cs typeface="Calibri"/>
              <a:sym typeface="Calibri"/>
            </a:endParaRPr>
          </a:p>
        </p:txBody>
      </p:sp>
      <p:sp>
        <p:nvSpPr>
          <p:cNvPr id="223" name="Google Shape;223;p8"/>
          <p:cNvSpPr/>
          <p:nvPr/>
        </p:nvSpPr>
        <p:spPr>
          <a:xfrm>
            <a:off x="5943600" y="5660136"/>
            <a:ext cx="845820" cy="310896"/>
          </a:xfrm>
          <a:prstGeom prst="roundRect">
            <a:avLst>
              <a:gd fmla="val 20588" name="adj"/>
            </a:avLst>
          </a:prstGeom>
          <a:solidFill>
            <a:srgbClr val="0E1A30"/>
          </a:solidFill>
          <a:ln cap="flat" cmpd="sng" w="15875">
            <a:solidFill>
              <a:srgbClr val="F5B4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5943600" y="5660136"/>
            <a:ext cx="8458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B44C"/>
              </a:buClr>
              <a:buSzPts val="1050"/>
              <a:buFont typeface="Calibri"/>
              <a:buNone/>
            </a:pPr>
            <a:r>
              <a:rPr b="1" i="0" lang="en-US" sz="1050" u="none" cap="none" strike="noStrike">
                <a:solidFill>
                  <a:srgbClr val="F5B44C"/>
                </a:solidFill>
                <a:latin typeface="Calibri"/>
                <a:ea typeface="Calibri"/>
                <a:cs typeface="Calibri"/>
                <a:sym typeface="Calibri"/>
              </a:rPr>
              <a:t>LAB 3</a:t>
            </a:r>
            <a:endParaRPr b="0" i="0" sz="1050" u="none" cap="none" strike="noStrike">
              <a:solidFill>
                <a:schemeClr val="dk1"/>
              </a:solidFill>
              <a:latin typeface="Calibri"/>
              <a:ea typeface="Calibri"/>
              <a:cs typeface="Calibri"/>
              <a:sym typeface="Calibri"/>
            </a:endParaRPr>
          </a:p>
        </p:txBody>
      </p:sp>
      <p:sp>
        <p:nvSpPr>
          <p:cNvPr id="225" name="Google Shape;225;p8"/>
          <p:cNvSpPr/>
          <p:nvPr/>
        </p:nvSpPr>
        <p:spPr>
          <a:xfrm>
            <a:off x="7680960" y="3291840"/>
            <a:ext cx="3840480" cy="1371600"/>
          </a:xfrm>
          <a:prstGeom prst="roundRect">
            <a:avLst>
              <a:gd fmla="val 8000" name="adj"/>
            </a:avLst>
          </a:prstGeom>
          <a:solidFill>
            <a:srgbClr val="1E3358"/>
          </a:solidFill>
          <a:ln cap="flat" cmpd="sng" w="12700">
            <a:solidFill>
              <a:srgbClr val="F5B44C"/>
            </a:solidFill>
            <a:prstDash val="solid"/>
            <a:round/>
            <a:headEnd len="sm" w="sm" type="none"/>
            <a:tailEnd len="sm" w="sm" type="none"/>
          </a:ln>
          <a:effectLst>
            <a:outerShdw blurRad="127000" rotWithShape="0" algn="bl" dir="5400000" dist="508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7863840" y="3401568"/>
            <a:ext cx="3474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B44C"/>
              </a:buClr>
              <a:buSzPts val="1400"/>
              <a:buFont typeface="Calibri"/>
              <a:buNone/>
            </a:pPr>
            <a:r>
              <a:rPr b="1" i="0" lang="en-US" sz="1400" u="none" cap="none" strike="noStrike">
                <a:solidFill>
                  <a:srgbClr val="F5B44C"/>
                </a:solidFill>
                <a:latin typeface="Calibri"/>
                <a:ea typeface="Calibri"/>
                <a:cs typeface="Calibri"/>
                <a:sym typeface="Calibri"/>
              </a:rPr>
              <a:t>Command scheme</a:t>
            </a:r>
            <a:endParaRPr b="0" i="0" sz="1400" u="none" cap="none" strike="noStrike">
              <a:solidFill>
                <a:schemeClr val="dk1"/>
              </a:solidFill>
              <a:latin typeface="Calibri"/>
              <a:ea typeface="Calibri"/>
              <a:cs typeface="Calibri"/>
              <a:sym typeface="Calibri"/>
            </a:endParaRPr>
          </a:p>
        </p:txBody>
      </p:sp>
      <p:sp>
        <p:nvSpPr>
          <p:cNvPr id="227" name="Google Shape;227;p8"/>
          <p:cNvSpPr/>
          <p:nvPr/>
        </p:nvSpPr>
        <p:spPr>
          <a:xfrm>
            <a:off x="7863840" y="3749040"/>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350"/>
              <a:buFont typeface="Calibri"/>
              <a:buNone/>
            </a:pPr>
            <a:r>
              <a:rPr b="1" i="0" lang="en-US" sz="1350" u="none" cap="none" strike="noStrike">
                <a:solidFill>
                  <a:srgbClr val="F4F7FB"/>
                </a:solidFill>
                <a:latin typeface="Calibri"/>
                <a:ea typeface="Calibri"/>
                <a:cs typeface="Calibri"/>
                <a:sym typeface="Calibri"/>
              </a:rPr>
              <a:t>'1'-'9'  and  '0'</a:t>
            </a:r>
            <a:r>
              <a:rPr b="0" i="0" lang="en-US" sz="1350" u="none" cap="none" strike="noStrike">
                <a:solidFill>
                  <a:srgbClr val="A3B4D0"/>
                </a:solidFill>
                <a:latin typeface="Calibri"/>
                <a:ea typeface="Calibri"/>
                <a:cs typeface="Calibri"/>
                <a:sym typeface="Calibri"/>
              </a:rPr>
              <a:t>  pick the 10 songs</a:t>
            </a:r>
            <a:endParaRPr b="0" i="0" sz="1350" u="none" cap="none" strike="noStrike">
              <a:solidFill>
                <a:schemeClr val="dk1"/>
              </a:solidFill>
              <a:latin typeface="Calibri"/>
              <a:ea typeface="Calibri"/>
              <a:cs typeface="Calibri"/>
              <a:sym typeface="Calibri"/>
            </a:endParaRPr>
          </a:p>
        </p:txBody>
      </p:sp>
      <p:sp>
        <p:nvSpPr>
          <p:cNvPr id="228" name="Google Shape;228;p8"/>
          <p:cNvSpPr/>
          <p:nvPr/>
        </p:nvSpPr>
        <p:spPr>
          <a:xfrm>
            <a:off x="7863840" y="4078224"/>
            <a:ext cx="3474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350"/>
              <a:buFont typeface="Calibri"/>
              <a:buNone/>
            </a:pPr>
            <a:r>
              <a:rPr b="1" i="0" lang="en-US" sz="1350" u="none" cap="none" strike="noStrike">
                <a:solidFill>
                  <a:srgbClr val="F4F7FB"/>
                </a:solidFill>
                <a:latin typeface="Calibri"/>
                <a:ea typeface="Calibri"/>
                <a:cs typeface="Calibri"/>
                <a:sym typeface="Calibri"/>
              </a:rPr>
              <a:t>'s'</a:t>
            </a:r>
            <a:r>
              <a:rPr b="0" i="0" lang="en-US" sz="1350" u="none" cap="none" strike="noStrike">
                <a:solidFill>
                  <a:srgbClr val="A3B4D0"/>
                </a:solidFill>
                <a:latin typeface="Calibri"/>
                <a:ea typeface="Calibri"/>
                <a:cs typeface="Calibri"/>
                <a:sym typeface="Calibri"/>
              </a:rPr>
              <a:t>  stops playback</a:t>
            </a:r>
            <a:endParaRPr b="0" i="0" sz="1350" u="none" cap="none" strike="noStrike">
              <a:solidFill>
                <a:schemeClr val="dk1"/>
              </a:solidFill>
              <a:latin typeface="Calibri"/>
              <a:ea typeface="Calibri"/>
              <a:cs typeface="Calibri"/>
              <a:sym typeface="Calibri"/>
            </a:endParaRPr>
          </a:p>
        </p:txBody>
      </p:sp>
      <p:sp>
        <p:nvSpPr>
          <p:cNvPr id="229" name="Google Shape;229;p8"/>
          <p:cNvSpPr/>
          <p:nvPr/>
        </p:nvSpPr>
        <p:spPr>
          <a:xfrm>
            <a:off x="7863840" y="4389120"/>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2A6"/>
              </a:buClr>
              <a:buSzPts val="1100"/>
              <a:buFont typeface="Calibri"/>
              <a:buNone/>
            </a:pPr>
            <a:r>
              <a:rPr b="0" i="1" lang="en-US" sz="1100" u="none" cap="none" strike="noStrike">
                <a:solidFill>
                  <a:srgbClr val="6E82A6"/>
                </a:solidFill>
                <a:latin typeface="Calibri"/>
                <a:ea typeface="Calibri"/>
                <a:cs typeface="Calibri"/>
                <a:sym typeface="Calibri"/>
              </a:rPr>
              <a:t>One ASCII character per press.</a:t>
            </a:r>
            <a:endParaRPr b="0" i="0" sz="1100" u="none" cap="none" strike="noStrike">
              <a:solidFill>
                <a:schemeClr val="dk1"/>
              </a:solidFill>
              <a:latin typeface="Calibri"/>
              <a:ea typeface="Calibri"/>
              <a:cs typeface="Calibri"/>
              <a:sym typeface="Calibri"/>
            </a:endParaRPr>
          </a:p>
        </p:txBody>
      </p:sp>
      <p:sp>
        <p:nvSpPr>
          <p:cNvPr id="230" name="Google Shape;230;p8"/>
          <p:cNvSpPr/>
          <p:nvPr/>
        </p:nvSpPr>
        <p:spPr>
          <a:xfrm>
            <a:off x="7680960" y="4800600"/>
            <a:ext cx="3840480" cy="1234440"/>
          </a:xfrm>
          <a:prstGeom prst="roundRect">
            <a:avLst>
              <a:gd fmla="val 8889" name="adj"/>
            </a:avLst>
          </a:prstGeom>
          <a:solidFill>
            <a:srgbClr val="18294A"/>
          </a:solidFill>
          <a:ln cap="flat" cmpd="sng" w="12700">
            <a:solidFill>
              <a:srgbClr val="2A3E63"/>
            </a:solidFill>
            <a:prstDash val="solid"/>
            <a:round/>
            <a:headEnd len="sm" w="sm" type="none"/>
            <a:tailEnd len="sm" w="sm" type="none"/>
          </a:ln>
          <a:effectLst>
            <a:outerShdw blurRad="127000" rotWithShape="0" algn="bl" dir="5400000" dist="508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7863840" y="4910328"/>
            <a:ext cx="3474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350"/>
              <a:buFont typeface="Calibri"/>
              <a:buNone/>
            </a:pPr>
            <a:r>
              <a:rPr b="1" i="0" lang="en-US" sz="1350" u="none" cap="none" strike="noStrike">
                <a:solidFill>
                  <a:srgbClr val="35D2E8"/>
                </a:solidFill>
                <a:latin typeface="Calibri"/>
                <a:ea typeface="Calibri"/>
                <a:cs typeface="Calibri"/>
                <a:sym typeface="Calibri"/>
              </a:rPr>
              <a:t>Four peripherals, four labs</a:t>
            </a:r>
            <a:endParaRPr b="0" i="0" sz="1350" u="none" cap="none" strike="noStrike">
              <a:solidFill>
                <a:schemeClr val="dk1"/>
              </a:solidFill>
              <a:latin typeface="Calibri"/>
              <a:ea typeface="Calibri"/>
              <a:cs typeface="Calibri"/>
              <a:sym typeface="Calibri"/>
            </a:endParaRPr>
          </a:p>
        </p:txBody>
      </p:sp>
      <p:sp>
        <p:nvSpPr>
          <p:cNvPr id="232" name="Google Shape;232;p8"/>
          <p:cNvSpPr/>
          <p:nvPr/>
        </p:nvSpPr>
        <p:spPr>
          <a:xfrm>
            <a:off x="7863840" y="5230368"/>
            <a:ext cx="3520440" cy="73152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A3B4D0"/>
              </a:buClr>
              <a:buSzPts val="1150"/>
              <a:buFont typeface="Calibri"/>
              <a:buNone/>
            </a:pPr>
            <a:r>
              <a:rPr b="0" i="0" lang="en-US" sz="1150" u="none" cap="none" strike="noStrike">
                <a:solidFill>
                  <a:srgbClr val="A3B4D0"/>
                </a:solidFill>
                <a:latin typeface="Calibri"/>
                <a:ea typeface="Calibri"/>
                <a:cs typeface="Calibri"/>
                <a:sym typeface="Calibri"/>
              </a:rPr>
              <a:t>Nothing here is new hardware. Each block is a peripheral we already configured in an earlier lab, now combined into one program.</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30"/>
        </a:solidFill>
      </p:bgPr>
    </p:bg>
    <p:spTree>
      <p:nvGrpSpPr>
        <p:cNvPr id="237" name="Shape 237"/>
        <p:cNvGrpSpPr/>
        <p:nvPr/>
      </p:nvGrpSpPr>
      <p:grpSpPr>
        <a:xfrm>
          <a:off x="0" y="0"/>
          <a:ext cx="0" cy="0"/>
          <a:chOff x="0" y="0"/>
          <a:chExt cx="0" cy="0"/>
        </a:xfrm>
      </p:grpSpPr>
      <p:sp>
        <p:nvSpPr>
          <p:cNvPr id="238" name="Google Shape;238;p9"/>
          <p:cNvSpPr/>
          <p:nvPr/>
        </p:nvSpPr>
        <p:spPr>
          <a:xfrm>
            <a:off x="640080" y="475488"/>
            <a:ext cx="786384" cy="786384"/>
          </a:xfrm>
          <a:prstGeom prst="ellipse">
            <a:avLst/>
          </a:prstGeom>
          <a:solidFill>
            <a:srgbClr val="F5B44C"/>
          </a:solidFill>
          <a:ln>
            <a:noFill/>
          </a:ln>
          <a:effectLst>
            <a:outerShdw blurRad="101600" rotWithShape="0" algn="bl" dir="54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9" name="Google Shape;239;p9"/>
          <p:cNvPicPr preferRelativeResize="0"/>
          <p:nvPr/>
        </p:nvPicPr>
        <p:blipFill rotWithShape="1">
          <a:blip r:embed="rId3">
            <a:alphaModFix/>
          </a:blip>
          <a:srcRect b="0" l="0" r="0" t="0"/>
          <a:stretch/>
        </p:blipFill>
        <p:spPr>
          <a:xfrm>
            <a:off x="859536" y="694944"/>
            <a:ext cx="347472" cy="347472"/>
          </a:xfrm>
          <a:prstGeom prst="rect">
            <a:avLst/>
          </a:prstGeom>
          <a:noFill/>
          <a:ln>
            <a:noFill/>
          </a:ln>
        </p:spPr>
      </p:pic>
      <p:sp>
        <p:nvSpPr>
          <p:cNvPr id="240" name="Google Shape;240;p9"/>
          <p:cNvSpPr/>
          <p:nvPr/>
        </p:nvSpPr>
        <p:spPr>
          <a:xfrm>
            <a:off x="1627632" y="502920"/>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B44C"/>
              </a:buClr>
              <a:buSzPts val="1200"/>
              <a:buFont typeface="Calibri"/>
              <a:buNone/>
            </a:pPr>
            <a:r>
              <a:rPr b="1" i="0" lang="en-US" sz="1200" u="none" cap="none" strike="noStrike">
                <a:solidFill>
                  <a:srgbClr val="F5B44C"/>
                </a:solidFill>
                <a:latin typeface="Calibri"/>
                <a:ea typeface="Calibri"/>
                <a:cs typeface="Calibri"/>
                <a:sym typeface="Calibri"/>
              </a:rPr>
              <a:t>MAKING THE TONES</a:t>
            </a:r>
            <a:endParaRPr b="0" i="0" sz="1200" u="none" cap="none" strike="noStrike">
              <a:solidFill>
                <a:schemeClr val="dk1"/>
              </a:solidFill>
              <a:latin typeface="Calibri"/>
              <a:ea typeface="Calibri"/>
              <a:cs typeface="Calibri"/>
              <a:sym typeface="Calibri"/>
            </a:endParaRPr>
          </a:p>
        </p:txBody>
      </p:sp>
      <p:sp>
        <p:nvSpPr>
          <p:cNvPr id="241" name="Google Shape;241;p9"/>
          <p:cNvSpPr/>
          <p:nvPr/>
        </p:nvSpPr>
        <p:spPr>
          <a:xfrm>
            <a:off x="1600200" y="749808"/>
            <a:ext cx="10241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3000"/>
              <a:buFont typeface="Calibri"/>
              <a:buNone/>
            </a:pPr>
            <a:r>
              <a:rPr b="1" i="0" lang="en-US" sz="3000" u="none" cap="none" strike="noStrike">
                <a:solidFill>
                  <a:srgbClr val="F4F7FB"/>
                </a:solidFill>
                <a:latin typeface="Calibri"/>
                <a:ea typeface="Calibri"/>
                <a:cs typeface="Calibri"/>
                <a:sym typeface="Calibri"/>
              </a:rPr>
              <a:t>Generating Sound</a:t>
            </a:r>
            <a:endParaRPr b="0" i="0" sz="3000" u="none" cap="none" strike="noStrike">
              <a:solidFill>
                <a:schemeClr val="dk1"/>
              </a:solidFill>
              <a:latin typeface="Calibri"/>
              <a:ea typeface="Calibri"/>
              <a:cs typeface="Calibri"/>
              <a:sym typeface="Calibri"/>
            </a:endParaRPr>
          </a:p>
        </p:txBody>
      </p:sp>
      <p:sp>
        <p:nvSpPr>
          <p:cNvPr id="242" name="Google Shape;242;p9"/>
          <p:cNvSpPr/>
          <p:nvPr/>
        </p:nvSpPr>
        <p:spPr>
          <a:xfrm>
            <a:off x="10424160" y="658368"/>
            <a:ext cx="845820" cy="310896"/>
          </a:xfrm>
          <a:prstGeom prst="roundRect">
            <a:avLst>
              <a:gd fmla="val 20588" name="adj"/>
            </a:avLst>
          </a:prstGeom>
          <a:solidFill>
            <a:srgbClr val="0E1A30"/>
          </a:solidFill>
          <a:ln cap="flat" cmpd="sng" w="15875">
            <a:solidFill>
              <a:srgbClr val="F5B4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10424160" y="658368"/>
            <a:ext cx="8458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B44C"/>
              </a:buClr>
              <a:buSzPts val="1050"/>
              <a:buFont typeface="Calibri"/>
              <a:buNone/>
            </a:pPr>
            <a:r>
              <a:rPr b="1" i="0" lang="en-US" sz="1050" u="none" cap="none" strike="noStrike">
                <a:solidFill>
                  <a:srgbClr val="F5B44C"/>
                </a:solidFill>
                <a:latin typeface="Calibri"/>
                <a:ea typeface="Calibri"/>
                <a:cs typeface="Calibri"/>
                <a:sym typeface="Calibri"/>
              </a:rPr>
              <a:t>LAB 2</a:t>
            </a:r>
            <a:endParaRPr b="0" i="0" sz="1050" u="none" cap="none" strike="noStrike">
              <a:solidFill>
                <a:schemeClr val="dk1"/>
              </a:solidFill>
              <a:latin typeface="Calibri"/>
              <a:ea typeface="Calibri"/>
              <a:cs typeface="Calibri"/>
              <a:sym typeface="Calibri"/>
            </a:endParaRPr>
          </a:p>
        </p:txBody>
      </p:sp>
      <p:sp>
        <p:nvSpPr>
          <p:cNvPr id="244" name="Google Shape;244;p9"/>
          <p:cNvSpPr/>
          <p:nvPr/>
        </p:nvSpPr>
        <p:spPr>
          <a:xfrm>
            <a:off x="731520" y="1847088"/>
            <a:ext cx="402336" cy="402336"/>
          </a:xfrm>
          <a:prstGeom prst="ellipse">
            <a:avLst/>
          </a:prstGeom>
          <a:solidFill>
            <a:srgbClr val="F5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5" name="Google Shape;245;p9"/>
          <p:cNvPicPr preferRelativeResize="0"/>
          <p:nvPr/>
        </p:nvPicPr>
        <p:blipFill rotWithShape="1">
          <a:blip r:embed="rId4">
            <a:alphaModFix/>
          </a:blip>
          <a:srcRect b="0" l="0" r="0" t="0"/>
          <a:stretch/>
        </p:blipFill>
        <p:spPr>
          <a:xfrm>
            <a:off x="841248" y="1956816"/>
            <a:ext cx="182880" cy="182880"/>
          </a:xfrm>
          <a:prstGeom prst="rect">
            <a:avLst/>
          </a:prstGeom>
          <a:noFill/>
          <a:ln>
            <a:noFill/>
          </a:ln>
        </p:spPr>
      </p:pic>
      <p:sp>
        <p:nvSpPr>
          <p:cNvPr id="246" name="Google Shape;246;p9"/>
          <p:cNvSpPr/>
          <p:nvPr/>
        </p:nvSpPr>
        <p:spPr>
          <a:xfrm>
            <a:off x="1280160" y="1828800"/>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A note is a square wave</a:t>
            </a:r>
            <a:endParaRPr b="0" i="0" sz="1500" u="none" cap="none" strike="noStrike">
              <a:solidFill>
                <a:schemeClr val="dk1"/>
              </a:solidFill>
              <a:latin typeface="Calibri"/>
              <a:ea typeface="Calibri"/>
              <a:cs typeface="Calibri"/>
              <a:sym typeface="Calibri"/>
            </a:endParaRPr>
          </a:p>
        </p:txBody>
      </p:sp>
      <p:sp>
        <p:nvSpPr>
          <p:cNvPr id="247" name="Google Shape;247;p9"/>
          <p:cNvSpPr/>
          <p:nvPr/>
        </p:nvSpPr>
        <p:spPr>
          <a:xfrm>
            <a:off x="1280160" y="2139696"/>
            <a:ext cx="466344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Flip PC4 on and off at the note's frequency and the buzzer plays that pitch.</a:t>
            </a:r>
            <a:endParaRPr b="0" i="0" sz="1250" u="none" cap="none" strike="noStrike">
              <a:solidFill>
                <a:schemeClr val="dk1"/>
              </a:solidFill>
              <a:latin typeface="Calibri"/>
              <a:ea typeface="Calibri"/>
              <a:cs typeface="Calibri"/>
              <a:sym typeface="Calibri"/>
            </a:endParaRPr>
          </a:p>
        </p:txBody>
      </p:sp>
      <p:sp>
        <p:nvSpPr>
          <p:cNvPr id="248" name="Google Shape;248;p9"/>
          <p:cNvSpPr/>
          <p:nvPr/>
        </p:nvSpPr>
        <p:spPr>
          <a:xfrm>
            <a:off x="731520" y="2852928"/>
            <a:ext cx="402336" cy="402336"/>
          </a:xfrm>
          <a:prstGeom prst="ellipse">
            <a:avLst/>
          </a:prstGeom>
          <a:solidFill>
            <a:srgbClr val="F5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9" name="Google Shape;249;p9"/>
          <p:cNvPicPr preferRelativeResize="0"/>
          <p:nvPr/>
        </p:nvPicPr>
        <p:blipFill rotWithShape="1">
          <a:blip r:embed="rId5">
            <a:alphaModFix/>
          </a:blip>
          <a:srcRect b="0" l="0" r="0" t="0"/>
          <a:stretch/>
        </p:blipFill>
        <p:spPr>
          <a:xfrm>
            <a:off x="841248" y="2962656"/>
            <a:ext cx="182880" cy="182880"/>
          </a:xfrm>
          <a:prstGeom prst="rect">
            <a:avLst/>
          </a:prstGeom>
          <a:noFill/>
          <a:ln>
            <a:noFill/>
          </a:ln>
        </p:spPr>
      </p:pic>
      <p:sp>
        <p:nvSpPr>
          <p:cNvPr id="250" name="Google Shape;250;p9"/>
          <p:cNvSpPr/>
          <p:nvPr/>
        </p:nvSpPr>
        <p:spPr>
          <a:xfrm>
            <a:off x="1280160" y="2834640"/>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Timer0 sets the timing</a:t>
            </a:r>
            <a:endParaRPr b="0" i="0" sz="1500" u="none" cap="none" strike="noStrike">
              <a:solidFill>
                <a:schemeClr val="dk1"/>
              </a:solidFill>
              <a:latin typeface="Calibri"/>
              <a:ea typeface="Calibri"/>
              <a:cs typeface="Calibri"/>
              <a:sym typeface="Calibri"/>
            </a:endParaRPr>
          </a:p>
        </p:txBody>
      </p:sp>
      <p:sp>
        <p:nvSpPr>
          <p:cNvPr id="251" name="Google Shape;251;p9"/>
          <p:cNvSpPr/>
          <p:nvPr/>
        </p:nvSpPr>
        <p:spPr>
          <a:xfrm>
            <a:off x="1280160" y="3145536"/>
            <a:ext cx="466344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A 16-bit periodic timer ticks every 1 us (TAILR = 16 at 16 MHz) so delayUs is accurate.</a:t>
            </a:r>
            <a:endParaRPr b="0" i="0" sz="1250" u="none" cap="none" strike="noStrike">
              <a:solidFill>
                <a:schemeClr val="dk1"/>
              </a:solidFill>
              <a:latin typeface="Calibri"/>
              <a:ea typeface="Calibri"/>
              <a:cs typeface="Calibri"/>
              <a:sym typeface="Calibri"/>
            </a:endParaRPr>
          </a:p>
        </p:txBody>
      </p:sp>
      <p:sp>
        <p:nvSpPr>
          <p:cNvPr id="252" name="Google Shape;252;p9"/>
          <p:cNvSpPr/>
          <p:nvPr/>
        </p:nvSpPr>
        <p:spPr>
          <a:xfrm>
            <a:off x="731520" y="3858768"/>
            <a:ext cx="402336" cy="402336"/>
          </a:xfrm>
          <a:prstGeom prst="ellipse">
            <a:avLst/>
          </a:prstGeom>
          <a:solidFill>
            <a:srgbClr val="F5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3" name="Google Shape;253;p9"/>
          <p:cNvPicPr preferRelativeResize="0"/>
          <p:nvPr/>
        </p:nvPicPr>
        <p:blipFill rotWithShape="1">
          <a:blip r:embed="rId6">
            <a:alphaModFix/>
          </a:blip>
          <a:srcRect b="0" l="0" r="0" t="0"/>
          <a:stretch/>
        </p:blipFill>
        <p:spPr>
          <a:xfrm>
            <a:off x="841248" y="3968496"/>
            <a:ext cx="182880" cy="182880"/>
          </a:xfrm>
          <a:prstGeom prst="rect">
            <a:avLst/>
          </a:prstGeom>
          <a:noFill/>
          <a:ln>
            <a:noFill/>
          </a:ln>
        </p:spPr>
      </p:pic>
      <p:sp>
        <p:nvSpPr>
          <p:cNvPr id="254" name="Google Shape;254;p9"/>
          <p:cNvSpPr/>
          <p:nvPr/>
        </p:nvSpPr>
        <p:spPr>
          <a:xfrm>
            <a:off x="1280160" y="3840480"/>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Each song is a table</a:t>
            </a:r>
            <a:endParaRPr b="0" i="0" sz="1500" u="none" cap="none" strike="noStrike">
              <a:solidFill>
                <a:schemeClr val="dk1"/>
              </a:solidFill>
              <a:latin typeface="Calibri"/>
              <a:ea typeface="Calibri"/>
              <a:cs typeface="Calibri"/>
              <a:sym typeface="Calibri"/>
            </a:endParaRPr>
          </a:p>
        </p:txBody>
      </p:sp>
      <p:sp>
        <p:nvSpPr>
          <p:cNvPr id="255" name="Google Shape;255;p9"/>
          <p:cNvSpPr/>
          <p:nvPr/>
        </p:nvSpPr>
        <p:spPr>
          <a:xfrm>
            <a:off x="1280160" y="4151376"/>
            <a:ext cx="466344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An array of {note, octave, duration}. To add a song, add another table.</a:t>
            </a:r>
            <a:endParaRPr b="0" i="0" sz="1250" u="none" cap="none" strike="noStrike">
              <a:solidFill>
                <a:schemeClr val="dk1"/>
              </a:solidFill>
              <a:latin typeface="Calibri"/>
              <a:ea typeface="Calibri"/>
              <a:cs typeface="Calibri"/>
              <a:sym typeface="Calibri"/>
            </a:endParaRPr>
          </a:p>
        </p:txBody>
      </p:sp>
      <p:sp>
        <p:nvSpPr>
          <p:cNvPr id="256" name="Google Shape;256;p9"/>
          <p:cNvSpPr/>
          <p:nvPr/>
        </p:nvSpPr>
        <p:spPr>
          <a:xfrm>
            <a:off x="731520" y="4864608"/>
            <a:ext cx="402336" cy="402336"/>
          </a:xfrm>
          <a:prstGeom prst="ellipse">
            <a:avLst/>
          </a:prstGeom>
          <a:solidFill>
            <a:srgbClr val="F5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7" name="Google Shape;257;p9"/>
          <p:cNvPicPr preferRelativeResize="0"/>
          <p:nvPr/>
        </p:nvPicPr>
        <p:blipFill rotWithShape="1">
          <a:blip r:embed="rId3">
            <a:alphaModFix/>
          </a:blip>
          <a:srcRect b="0" l="0" r="0" t="0"/>
          <a:stretch/>
        </p:blipFill>
        <p:spPr>
          <a:xfrm>
            <a:off x="841248" y="4974336"/>
            <a:ext cx="182880" cy="182880"/>
          </a:xfrm>
          <a:prstGeom prst="rect">
            <a:avLst/>
          </a:prstGeom>
          <a:noFill/>
          <a:ln>
            <a:noFill/>
          </a:ln>
        </p:spPr>
      </p:pic>
      <p:sp>
        <p:nvSpPr>
          <p:cNvPr id="258" name="Google Shape;258;p9"/>
          <p:cNvSpPr/>
          <p:nvPr/>
        </p:nvSpPr>
        <p:spPr>
          <a:xfrm>
            <a:off x="1280160" y="4846320"/>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Octaves are easy</a:t>
            </a:r>
            <a:endParaRPr b="0" i="0" sz="1500" u="none" cap="none" strike="noStrike">
              <a:solidFill>
                <a:schemeClr val="dk1"/>
              </a:solidFill>
              <a:latin typeface="Calibri"/>
              <a:ea typeface="Calibri"/>
              <a:cs typeface="Calibri"/>
              <a:sym typeface="Calibri"/>
            </a:endParaRPr>
          </a:p>
        </p:txBody>
      </p:sp>
      <p:sp>
        <p:nvSpPr>
          <p:cNvPr id="259" name="Google Shape;259;p9"/>
          <p:cNvSpPr/>
          <p:nvPr/>
        </p:nvSpPr>
        <p:spPr>
          <a:xfrm>
            <a:off x="1280160" y="5157216"/>
            <a:ext cx="466344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A higher octave just doubles the frequency; a lower one halves it.</a:t>
            </a:r>
            <a:endParaRPr b="0" i="0" sz="1250" u="none" cap="none" strike="noStrike">
              <a:solidFill>
                <a:schemeClr val="dk1"/>
              </a:solidFill>
              <a:latin typeface="Calibri"/>
              <a:ea typeface="Calibri"/>
              <a:cs typeface="Calibri"/>
              <a:sym typeface="Calibri"/>
            </a:endParaRPr>
          </a:p>
        </p:txBody>
      </p:sp>
      <p:sp>
        <p:nvSpPr>
          <p:cNvPr id="260" name="Google Shape;260;p9"/>
          <p:cNvSpPr/>
          <p:nvPr/>
        </p:nvSpPr>
        <p:spPr>
          <a:xfrm>
            <a:off x="6355080" y="1828800"/>
            <a:ext cx="5166360" cy="4027932"/>
          </a:xfrm>
          <a:prstGeom prst="roundRect">
            <a:avLst>
              <a:gd fmla="val 2270" name="adj"/>
            </a:avLst>
          </a:prstGeom>
          <a:solidFill>
            <a:srgbClr val="0A1526"/>
          </a:solidFill>
          <a:ln cap="flat" cmpd="sng" w="12700">
            <a:solidFill>
              <a:srgbClr val="22344F"/>
            </a:solidFill>
            <a:prstDash val="solid"/>
            <a:round/>
            <a:headEnd len="sm" w="sm" type="none"/>
            <a:tailEnd len="sm" w="sm" type="none"/>
          </a:ln>
          <a:effectLst>
            <a:outerShdw blurRad="127000" rotWithShape="0" algn="bl" dir="5400000" dist="508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6537960" y="1993392"/>
            <a:ext cx="100584" cy="100584"/>
          </a:xfrm>
          <a:prstGeom prst="ellipse">
            <a:avLst/>
          </a:prstGeom>
          <a:solidFill>
            <a:srgbClr val="E56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6693408" y="1993392"/>
            <a:ext cx="100584" cy="100584"/>
          </a:xfrm>
          <a:prstGeom prst="ellipse">
            <a:avLst/>
          </a:prstGeom>
          <a:solidFill>
            <a:srgbClr val="E8B0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6848856" y="1993392"/>
            <a:ext cx="100584" cy="100584"/>
          </a:xfrm>
          <a:prstGeom prst="ellipse">
            <a:avLst/>
          </a:prstGeom>
          <a:solidFill>
            <a:srgbClr val="6FB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7086600" y="1938528"/>
            <a:ext cx="4251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2A6"/>
              </a:buClr>
              <a:buSzPts val="1050"/>
              <a:buFont typeface="Courier New"/>
              <a:buNone/>
            </a:pPr>
            <a:r>
              <a:rPr b="0" i="1" lang="en-US" sz="1050" u="none" cap="none" strike="noStrike">
                <a:solidFill>
                  <a:srgbClr val="6E82A6"/>
                </a:solidFill>
                <a:latin typeface="Courier New"/>
                <a:ea typeface="Courier New"/>
                <a:cs typeface="Courier New"/>
                <a:sym typeface="Courier New"/>
              </a:rPr>
              <a:t>main.c  ·  sound generation</a:t>
            </a:r>
            <a:endParaRPr b="0" i="0" sz="1050" u="none" cap="none" strike="noStrike">
              <a:solidFill>
                <a:schemeClr val="dk1"/>
              </a:solidFill>
              <a:latin typeface="Calibri"/>
              <a:ea typeface="Calibri"/>
              <a:cs typeface="Calibri"/>
              <a:sym typeface="Calibri"/>
            </a:endParaRPr>
          </a:p>
        </p:txBody>
      </p:sp>
      <p:sp>
        <p:nvSpPr>
          <p:cNvPr id="265" name="Google Shape;265;p9"/>
          <p:cNvSpPr/>
          <p:nvPr/>
        </p:nvSpPr>
        <p:spPr>
          <a:xfrm>
            <a:off x="6611112" y="2286000"/>
            <a:ext cx="4709160" cy="34792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3C7A0"/>
              </a:buClr>
              <a:buSzPts val="1250"/>
              <a:buFont typeface="Courier New"/>
              <a:buNone/>
            </a:pPr>
            <a:r>
              <a:rPr b="0" i="0" lang="en-US" sz="1250" u="none" cap="none" strike="noStrike">
                <a:solidFill>
                  <a:srgbClr val="83C7A0"/>
                </a:solidFill>
                <a:latin typeface="Courier New"/>
                <a:ea typeface="Courier New"/>
                <a:cs typeface="Courier New"/>
                <a:sym typeface="Courier New"/>
              </a:rPr>
              <a:t>// Timer0: 1 us time base  (Lab 2)</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TIMER0-&gt;CFG   = 0x04;</a:t>
            </a:r>
            <a:r>
              <a:rPr b="0" i="0" lang="en-US" sz="1250" u="none" cap="none" strike="noStrike">
                <a:solidFill>
                  <a:srgbClr val="83C7A0"/>
                </a:solidFill>
                <a:latin typeface="Courier New"/>
                <a:ea typeface="Courier New"/>
                <a:cs typeface="Courier New"/>
                <a:sym typeface="Courier New"/>
              </a:rPr>
              <a:t>  // 16-bit</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TIMER0-&gt;TAMR  = 0x02;</a:t>
            </a:r>
            <a:r>
              <a:rPr b="0" i="0" lang="en-US" sz="1250" u="none" cap="none" strike="noStrike">
                <a:solidFill>
                  <a:srgbClr val="83C7A0"/>
                </a:solidFill>
                <a:latin typeface="Courier New"/>
                <a:ea typeface="Courier New"/>
                <a:cs typeface="Courier New"/>
                <a:sym typeface="Courier New"/>
              </a:rPr>
              <a:t>  // periodic</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TIMER0-&gt;TAILR = 16 - 1;</a:t>
            </a:r>
            <a:r>
              <a:rPr b="0" i="0" lang="en-US" sz="1250" u="none" cap="none" strike="noStrike">
                <a:solidFill>
                  <a:srgbClr val="83C7A0"/>
                </a:solidFill>
                <a:latin typeface="Courier New"/>
                <a:ea typeface="Courier New"/>
                <a:cs typeface="Courier New"/>
                <a:sym typeface="Courier New"/>
              </a:rPr>
              <a:t>  // = 1 us @16MHz</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TIMER0-&gt;CTL  |= 0x01;</a:t>
            </a:r>
            <a:r>
              <a:rPr b="0" i="0" lang="en-US" sz="1250" u="none" cap="none" strike="noStrike">
                <a:solidFill>
                  <a:srgbClr val="83C7A0"/>
                </a:solidFill>
                <a:latin typeface="Courier New"/>
                <a:ea typeface="Courier New"/>
                <a:cs typeface="Courier New"/>
                <a:sym typeface="Courier New"/>
              </a:rPr>
              <a:t>  // enable</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3C7A0"/>
              </a:buClr>
              <a:buSzPts val="1250"/>
              <a:buFont typeface="Courier New"/>
              <a:buNone/>
            </a:pPr>
            <a:r>
              <a:rPr b="0" i="0" lang="en-US" sz="1250" u="none" cap="none" strike="noStrike">
                <a:solidFill>
                  <a:srgbClr val="83C7A0"/>
                </a:solidFill>
                <a:latin typeface="Courier New"/>
                <a:ea typeface="Courier New"/>
                <a:cs typeface="Courier New"/>
                <a:sym typeface="Courier New"/>
              </a:rPr>
              <a:t>// play one note = square wave</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for (i=0; i&lt;cycles; i++) {</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GPIOC-&gt;DATA |=  0x10;</a:t>
            </a:r>
            <a:r>
              <a:rPr b="0" i="0" lang="en-US" sz="1250" u="none" cap="none" strike="noStrike">
                <a:solidFill>
                  <a:srgbClr val="83C7A0"/>
                </a:solidFill>
                <a:latin typeface="Courier New"/>
                <a:ea typeface="Courier New"/>
                <a:cs typeface="Courier New"/>
                <a:sym typeface="Courier New"/>
              </a:rPr>
              <a:t>  // PC4 high</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delayUs(half);</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GPIOC-&gt;DATA &amp;= ~0x10;</a:t>
            </a:r>
            <a:r>
              <a:rPr b="0" i="0" lang="en-US" sz="1250" u="none" cap="none" strike="noStrike">
                <a:solidFill>
                  <a:srgbClr val="83C7A0"/>
                </a:solidFill>
                <a:latin typeface="Courier New"/>
                <a:ea typeface="Courier New"/>
                <a:cs typeface="Courier New"/>
                <a:sym typeface="Courier New"/>
              </a:rPr>
              <a:t>  // PC4 low</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delayUs(half);</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30"/>
        </a:solidFill>
      </p:bgPr>
    </p:bg>
    <p:spTree>
      <p:nvGrpSpPr>
        <p:cNvPr id="270" name="Shape 270"/>
        <p:cNvGrpSpPr/>
        <p:nvPr/>
      </p:nvGrpSpPr>
      <p:grpSpPr>
        <a:xfrm>
          <a:off x="0" y="0"/>
          <a:ext cx="0" cy="0"/>
          <a:chOff x="0" y="0"/>
          <a:chExt cx="0" cy="0"/>
        </a:xfrm>
      </p:grpSpPr>
      <p:sp>
        <p:nvSpPr>
          <p:cNvPr id="271" name="Google Shape;271;p10"/>
          <p:cNvSpPr/>
          <p:nvPr/>
        </p:nvSpPr>
        <p:spPr>
          <a:xfrm>
            <a:off x="640080" y="475488"/>
            <a:ext cx="786384" cy="786384"/>
          </a:xfrm>
          <a:prstGeom prst="ellipse">
            <a:avLst/>
          </a:prstGeom>
          <a:solidFill>
            <a:srgbClr val="35D2E8"/>
          </a:solidFill>
          <a:ln>
            <a:noFill/>
          </a:ln>
          <a:effectLst>
            <a:outerShdw blurRad="101600" rotWithShape="0" algn="bl" dir="54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2" name="Google Shape;272;p10"/>
          <p:cNvPicPr preferRelativeResize="0"/>
          <p:nvPr/>
        </p:nvPicPr>
        <p:blipFill rotWithShape="1">
          <a:blip r:embed="rId3">
            <a:alphaModFix/>
          </a:blip>
          <a:srcRect b="0" l="0" r="0" t="0"/>
          <a:stretch/>
        </p:blipFill>
        <p:spPr>
          <a:xfrm>
            <a:off x="859536" y="694944"/>
            <a:ext cx="347472" cy="347472"/>
          </a:xfrm>
          <a:prstGeom prst="rect">
            <a:avLst/>
          </a:prstGeom>
          <a:noFill/>
          <a:ln>
            <a:noFill/>
          </a:ln>
        </p:spPr>
      </p:pic>
      <p:sp>
        <p:nvSpPr>
          <p:cNvPr id="273" name="Google Shape;273;p10"/>
          <p:cNvSpPr/>
          <p:nvPr/>
        </p:nvSpPr>
        <p:spPr>
          <a:xfrm>
            <a:off x="1627632" y="502920"/>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200"/>
              <a:buFont typeface="Calibri"/>
              <a:buNone/>
            </a:pPr>
            <a:r>
              <a:rPr b="1" i="0" lang="en-US" sz="1200" u="none" cap="none" strike="noStrike">
                <a:solidFill>
                  <a:srgbClr val="35D2E8"/>
                </a:solidFill>
                <a:latin typeface="Calibri"/>
                <a:ea typeface="Calibri"/>
                <a:cs typeface="Calibri"/>
                <a:sym typeface="Calibri"/>
              </a:rPr>
              <a:t>RECEIVING THE COMMAND</a:t>
            </a:r>
            <a:endParaRPr b="0" i="0" sz="1200" u="none" cap="none" strike="noStrike">
              <a:solidFill>
                <a:schemeClr val="dk1"/>
              </a:solidFill>
              <a:latin typeface="Calibri"/>
              <a:ea typeface="Calibri"/>
              <a:cs typeface="Calibri"/>
              <a:sym typeface="Calibri"/>
            </a:endParaRPr>
          </a:p>
        </p:txBody>
      </p:sp>
      <p:sp>
        <p:nvSpPr>
          <p:cNvPr id="274" name="Google Shape;274;p10"/>
          <p:cNvSpPr/>
          <p:nvPr/>
        </p:nvSpPr>
        <p:spPr>
          <a:xfrm>
            <a:off x="1600200" y="749808"/>
            <a:ext cx="10241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3000"/>
              <a:buFont typeface="Calibri"/>
              <a:buNone/>
            </a:pPr>
            <a:r>
              <a:rPr b="1" i="0" lang="en-US" sz="3000" u="none" cap="none" strike="noStrike">
                <a:solidFill>
                  <a:srgbClr val="F4F7FB"/>
                </a:solidFill>
                <a:latin typeface="Calibri"/>
                <a:ea typeface="Calibri"/>
                <a:cs typeface="Calibri"/>
                <a:sym typeface="Calibri"/>
              </a:rPr>
              <a:t>UART5 Configuration</a:t>
            </a:r>
            <a:endParaRPr b="0" i="0" sz="3000" u="none" cap="none" strike="noStrike">
              <a:solidFill>
                <a:schemeClr val="dk1"/>
              </a:solidFill>
              <a:latin typeface="Calibri"/>
              <a:ea typeface="Calibri"/>
              <a:cs typeface="Calibri"/>
              <a:sym typeface="Calibri"/>
            </a:endParaRPr>
          </a:p>
        </p:txBody>
      </p:sp>
      <p:sp>
        <p:nvSpPr>
          <p:cNvPr id="275" name="Google Shape;275;p10"/>
          <p:cNvSpPr/>
          <p:nvPr/>
        </p:nvSpPr>
        <p:spPr>
          <a:xfrm>
            <a:off x="10424160" y="658368"/>
            <a:ext cx="845820" cy="310896"/>
          </a:xfrm>
          <a:prstGeom prst="roundRect">
            <a:avLst>
              <a:gd fmla="val 20588" name="adj"/>
            </a:avLst>
          </a:prstGeom>
          <a:solidFill>
            <a:srgbClr val="0E1A30"/>
          </a:solidFill>
          <a:ln cap="flat" cmpd="sng" w="15875">
            <a:solidFill>
              <a:srgbClr val="35D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p:nvPr/>
        </p:nvSpPr>
        <p:spPr>
          <a:xfrm>
            <a:off x="10424160" y="658368"/>
            <a:ext cx="8458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2E8"/>
              </a:buClr>
              <a:buSzPts val="1050"/>
              <a:buFont typeface="Calibri"/>
              <a:buNone/>
            </a:pPr>
            <a:r>
              <a:rPr b="1" i="0" lang="en-US" sz="1050" u="none" cap="none" strike="noStrike">
                <a:solidFill>
                  <a:srgbClr val="35D2E8"/>
                </a:solidFill>
                <a:latin typeface="Calibri"/>
                <a:ea typeface="Calibri"/>
                <a:cs typeface="Calibri"/>
                <a:sym typeface="Calibri"/>
              </a:rPr>
              <a:t>LAB 6</a:t>
            </a:r>
            <a:endParaRPr b="0" i="0" sz="1050" u="none" cap="none" strike="noStrike">
              <a:solidFill>
                <a:schemeClr val="dk1"/>
              </a:solidFill>
              <a:latin typeface="Calibri"/>
              <a:ea typeface="Calibri"/>
              <a:cs typeface="Calibri"/>
              <a:sym typeface="Calibri"/>
            </a:endParaRPr>
          </a:p>
        </p:txBody>
      </p:sp>
      <p:sp>
        <p:nvSpPr>
          <p:cNvPr id="277" name="Google Shape;277;p10"/>
          <p:cNvSpPr/>
          <p:nvPr/>
        </p:nvSpPr>
        <p:spPr>
          <a:xfrm>
            <a:off x="731520" y="1847088"/>
            <a:ext cx="402336" cy="402336"/>
          </a:xfrm>
          <a:prstGeom prst="ellipse">
            <a:avLst/>
          </a:prstGeom>
          <a:solidFill>
            <a:srgbClr val="35D2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8" name="Google Shape;278;p10"/>
          <p:cNvPicPr preferRelativeResize="0"/>
          <p:nvPr/>
        </p:nvPicPr>
        <p:blipFill rotWithShape="1">
          <a:blip r:embed="rId4">
            <a:alphaModFix/>
          </a:blip>
          <a:srcRect b="0" l="0" r="0" t="0"/>
          <a:stretch/>
        </p:blipFill>
        <p:spPr>
          <a:xfrm>
            <a:off x="841248" y="1956816"/>
            <a:ext cx="182880" cy="182880"/>
          </a:xfrm>
          <a:prstGeom prst="rect">
            <a:avLst/>
          </a:prstGeom>
          <a:noFill/>
          <a:ln>
            <a:noFill/>
          </a:ln>
        </p:spPr>
      </p:pic>
      <p:sp>
        <p:nvSpPr>
          <p:cNvPr id="279" name="Google Shape;279;p10"/>
          <p:cNvSpPr/>
          <p:nvPr/>
        </p:nvSpPr>
        <p:spPr>
          <a:xfrm>
            <a:off x="1280160" y="1828800"/>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Turn on the hardware</a:t>
            </a:r>
            <a:endParaRPr b="0" i="0" sz="1500" u="none" cap="none" strike="noStrike">
              <a:solidFill>
                <a:schemeClr val="dk1"/>
              </a:solidFill>
              <a:latin typeface="Calibri"/>
              <a:ea typeface="Calibri"/>
              <a:cs typeface="Calibri"/>
              <a:sym typeface="Calibri"/>
            </a:endParaRPr>
          </a:p>
        </p:txBody>
      </p:sp>
      <p:sp>
        <p:nvSpPr>
          <p:cNvPr id="280" name="Google Shape;280;p10"/>
          <p:cNvSpPr/>
          <p:nvPr/>
        </p:nvSpPr>
        <p:spPr>
          <a:xfrm>
            <a:off x="1280160" y="2139696"/>
            <a:ext cx="466344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Enable the clock to UART5 and to Port E before touching any registers.</a:t>
            </a:r>
            <a:endParaRPr b="0" i="0" sz="1250" u="none" cap="none" strike="noStrike">
              <a:solidFill>
                <a:schemeClr val="dk1"/>
              </a:solidFill>
              <a:latin typeface="Calibri"/>
              <a:ea typeface="Calibri"/>
              <a:cs typeface="Calibri"/>
              <a:sym typeface="Calibri"/>
            </a:endParaRPr>
          </a:p>
        </p:txBody>
      </p:sp>
      <p:sp>
        <p:nvSpPr>
          <p:cNvPr id="281" name="Google Shape;281;p10"/>
          <p:cNvSpPr/>
          <p:nvPr/>
        </p:nvSpPr>
        <p:spPr>
          <a:xfrm>
            <a:off x="731520" y="2852928"/>
            <a:ext cx="402336" cy="402336"/>
          </a:xfrm>
          <a:prstGeom prst="ellipse">
            <a:avLst/>
          </a:prstGeom>
          <a:solidFill>
            <a:srgbClr val="35D2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2" name="Google Shape;282;p10"/>
          <p:cNvPicPr preferRelativeResize="0"/>
          <p:nvPr/>
        </p:nvPicPr>
        <p:blipFill rotWithShape="1">
          <a:blip r:embed="rId3">
            <a:alphaModFix/>
          </a:blip>
          <a:srcRect b="0" l="0" r="0" t="0"/>
          <a:stretch/>
        </p:blipFill>
        <p:spPr>
          <a:xfrm>
            <a:off x="841248" y="2962656"/>
            <a:ext cx="182880" cy="182880"/>
          </a:xfrm>
          <a:prstGeom prst="rect">
            <a:avLst/>
          </a:prstGeom>
          <a:noFill/>
          <a:ln>
            <a:noFill/>
          </a:ln>
        </p:spPr>
      </p:pic>
      <p:sp>
        <p:nvSpPr>
          <p:cNvPr id="283" name="Google Shape;283;p10"/>
          <p:cNvSpPr/>
          <p:nvPr/>
        </p:nvSpPr>
        <p:spPr>
          <a:xfrm>
            <a:off x="1280160" y="2834640"/>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Route the pins</a:t>
            </a:r>
            <a:endParaRPr b="0" i="0" sz="1500" u="none" cap="none" strike="noStrike">
              <a:solidFill>
                <a:schemeClr val="dk1"/>
              </a:solidFill>
              <a:latin typeface="Calibri"/>
              <a:ea typeface="Calibri"/>
              <a:cs typeface="Calibri"/>
              <a:sym typeface="Calibri"/>
            </a:endParaRPr>
          </a:p>
        </p:txBody>
      </p:sp>
      <p:sp>
        <p:nvSpPr>
          <p:cNvPr id="284" name="Google Shape;284;p10"/>
          <p:cNvSpPr/>
          <p:nvPr/>
        </p:nvSpPr>
        <p:spPr>
          <a:xfrm>
            <a:off x="1280160" y="3145536"/>
            <a:ext cx="466344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Set PE4 / PE5 to their UART alternate function so the pin becomes U5RX.</a:t>
            </a:r>
            <a:endParaRPr b="0" i="0" sz="1250" u="none" cap="none" strike="noStrike">
              <a:solidFill>
                <a:schemeClr val="dk1"/>
              </a:solidFill>
              <a:latin typeface="Calibri"/>
              <a:ea typeface="Calibri"/>
              <a:cs typeface="Calibri"/>
              <a:sym typeface="Calibri"/>
            </a:endParaRPr>
          </a:p>
        </p:txBody>
      </p:sp>
      <p:sp>
        <p:nvSpPr>
          <p:cNvPr id="285" name="Google Shape;285;p10"/>
          <p:cNvSpPr/>
          <p:nvPr/>
        </p:nvSpPr>
        <p:spPr>
          <a:xfrm>
            <a:off x="731520" y="3858768"/>
            <a:ext cx="402336" cy="402336"/>
          </a:xfrm>
          <a:prstGeom prst="ellipse">
            <a:avLst/>
          </a:prstGeom>
          <a:solidFill>
            <a:srgbClr val="35D2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6" name="Google Shape;286;p10"/>
          <p:cNvPicPr preferRelativeResize="0"/>
          <p:nvPr/>
        </p:nvPicPr>
        <p:blipFill rotWithShape="1">
          <a:blip r:embed="rId5">
            <a:alphaModFix/>
          </a:blip>
          <a:srcRect b="0" l="0" r="0" t="0"/>
          <a:stretch/>
        </p:blipFill>
        <p:spPr>
          <a:xfrm>
            <a:off x="841248" y="3968496"/>
            <a:ext cx="182880" cy="182880"/>
          </a:xfrm>
          <a:prstGeom prst="rect">
            <a:avLst/>
          </a:prstGeom>
          <a:noFill/>
          <a:ln>
            <a:noFill/>
          </a:ln>
        </p:spPr>
      </p:pic>
      <p:sp>
        <p:nvSpPr>
          <p:cNvPr id="287" name="Google Shape;287;p10"/>
          <p:cNvSpPr/>
          <p:nvPr/>
        </p:nvSpPr>
        <p:spPr>
          <a:xfrm>
            <a:off x="1280160" y="3840480"/>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Set the baud rate</a:t>
            </a:r>
            <a:endParaRPr b="0" i="0" sz="1500" u="none" cap="none" strike="noStrike">
              <a:solidFill>
                <a:schemeClr val="dk1"/>
              </a:solidFill>
              <a:latin typeface="Calibri"/>
              <a:ea typeface="Calibri"/>
              <a:cs typeface="Calibri"/>
              <a:sym typeface="Calibri"/>
            </a:endParaRPr>
          </a:p>
        </p:txBody>
      </p:sp>
      <p:sp>
        <p:nvSpPr>
          <p:cNvPr id="288" name="Google Shape;288;p10"/>
          <p:cNvSpPr/>
          <p:nvPr/>
        </p:nvSpPr>
        <p:spPr>
          <a:xfrm>
            <a:off x="1280160" y="4151376"/>
            <a:ext cx="466344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9600 to match the HM-10: IBRD = 104, FBRD = 11 for a 16 MHz clock.</a:t>
            </a:r>
            <a:endParaRPr b="0" i="0" sz="1250" u="none" cap="none" strike="noStrike">
              <a:solidFill>
                <a:schemeClr val="dk1"/>
              </a:solidFill>
              <a:latin typeface="Calibri"/>
              <a:ea typeface="Calibri"/>
              <a:cs typeface="Calibri"/>
              <a:sym typeface="Calibri"/>
            </a:endParaRPr>
          </a:p>
        </p:txBody>
      </p:sp>
      <p:sp>
        <p:nvSpPr>
          <p:cNvPr id="289" name="Google Shape;289;p10"/>
          <p:cNvSpPr/>
          <p:nvPr/>
        </p:nvSpPr>
        <p:spPr>
          <a:xfrm>
            <a:off x="731520" y="4864608"/>
            <a:ext cx="402336" cy="402336"/>
          </a:xfrm>
          <a:prstGeom prst="ellipse">
            <a:avLst/>
          </a:prstGeom>
          <a:solidFill>
            <a:srgbClr val="35D2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0" name="Google Shape;290;p10"/>
          <p:cNvPicPr preferRelativeResize="0"/>
          <p:nvPr/>
        </p:nvPicPr>
        <p:blipFill rotWithShape="1">
          <a:blip r:embed="rId6">
            <a:alphaModFix/>
          </a:blip>
          <a:srcRect b="0" l="0" r="0" t="0"/>
          <a:stretch/>
        </p:blipFill>
        <p:spPr>
          <a:xfrm>
            <a:off x="841248" y="4974336"/>
            <a:ext cx="182880" cy="182880"/>
          </a:xfrm>
          <a:prstGeom prst="rect">
            <a:avLst/>
          </a:prstGeom>
          <a:noFill/>
          <a:ln>
            <a:noFill/>
          </a:ln>
        </p:spPr>
      </p:pic>
      <p:sp>
        <p:nvSpPr>
          <p:cNvPr id="291" name="Google Shape;291;p10"/>
          <p:cNvSpPr/>
          <p:nvPr/>
        </p:nvSpPr>
        <p:spPr>
          <a:xfrm>
            <a:off x="1280160" y="4846320"/>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Frame and enable</a:t>
            </a:r>
            <a:endParaRPr b="0" i="0" sz="1500" u="none" cap="none" strike="noStrike">
              <a:solidFill>
                <a:schemeClr val="dk1"/>
              </a:solidFill>
              <a:latin typeface="Calibri"/>
              <a:ea typeface="Calibri"/>
              <a:cs typeface="Calibri"/>
              <a:sym typeface="Calibri"/>
            </a:endParaRPr>
          </a:p>
        </p:txBody>
      </p:sp>
      <p:sp>
        <p:nvSpPr>
          <p:cNvPr id="292" name="Google Shape;292;p10"/>
          <p:cNvSpPr/>
          <p:nvPr/>
        </p:nvSpPr>
        <p:spPr>
          <a:xfrm>
            <a:off x="1280160" y="5157216"/>
            <a:ext cx="466344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8 data bits, no parity, 1 stop (LCRH = 0x60); then enable UART, RX, and the RX interrupt.</a:t>
            </a:r>
            <a:endParaRPr b="0" i="0" sz="1250" u="none" cap="none" strike="noStrike">
              <a:solidFill>
                <a:schemeClr val="dk1"/>
              </a:solidFill>
              <a:latin typeface="Calibri"/>
              <a:ea typeface="Calibri"/>
              <a:cs typeface="Calibri"/>
              <a:sym typeface="Calibri"/>
            </a:endParaRPr>
          </a:p>
        </p:txBody>
      </p:sp>
      <p:sp>
        <p:nvSpPr>
          <p:cNvPr id="293" name="Google Shape;293;p10"/>
          <p:cNvSpPr/>
          <p:nvPr/>
        </p:nvSpPr>
        <p:spPr>
          <a:xfrm>
            <a:off x="6355080" y="1828800"/>
            <a:ext cx="5166360" cy="3506724"/>
          </a:xfrm>
          <a:prstGeom prst="roundRect">
            <a:avLst>
              <a:gd fmla="val 2608" name="adj"/>
            </a:avLst>
          </a:prstGeom>
          <a:solidFill>
            <a:srgbClr val="0A1526"/>
          </a:solidFill>
          <a:ln cap="flat" cmpd="sng" w="12700">
            <a:solidFill>
              <a:srgbClr val="22344F"/>
            </a:solidFill>
            <a:prstDash val="solid"/>
            <a:round/>
            <a:headEnd len="sm" w="sm" type="none"/>
            <a:tailEnd len="sm" w="sm" type="none"/>
          </a:ln>
          <a:effectLst>
            <a:outerShdw blurRad="127000" rotWithShape="0" algn="bl" dir="5400000" dist="508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0"/>
          <p:cNvSpPr/>
          <p:nvPr/>
        </p:nvSpPr>
        <p:spPr>
          <a:xfrm>
            <a:off x="6537960" y="1993392"/>
            <a:ext cx="100584" cy="100584"/>
          </a:xfrm>
          <a:prstGeom prst="ellipse">
            <a:avLst/>
          </a:prstGeom>
          <a:solidFill>
            <a:srgbClr val="E56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0"/>
          <p:cNvSpPr/>
          <p:nvPr/>
        </p:nvSpPr>
        <p:spPr>
          <a:xfrm>
            <a:off x="6693408" y="1993392"/>
            <a:ext cx="100584" cy="100584"/>
          </a:xfrm>
          <a:prstGeom prst="ellipse">
            <a:avLst/>
          </a:prstGeom>
          <a:solidFill>
            <a:srgbClr val="E8B0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0"/>
          <p:cNvSpPr/>
          <p:nvPr/>
        </p:nvSpPr>
        <p:spPr>
          <a:xfrm>
            <a:off x="6848856" y="1993392"/>
            <a:ext cx="100584" cy="100584"/>
          </a:xfrm>
          <a:prstGeom prst="ellipse">
            <a:avLst/>
          </a:prstGeom>
          <a:solidFill>
            <a:srgbClr val="6FB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p:nvPr/>
        </p:nvSpPr>
        <p:spPr>
          <a:xfrm>
            <a:off x="7086600" y="1938528"/>
            <a:ext cx="4251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2A6"/>
              </a:buClr>
              <a:buSzPts val="1050"/>
              <a:buFont typeface="Courier New"/>
              <a:buNone/>
            </a:pPr>
            <a:r>
              <a:rPr b="0" i="1" lang="en-US" sz="1050" u="none" cap="none" strike="noStrike">
                <a:solidFill>
                  <a:srgbClr val="6E82A6"/>
                </a:solidFill>
                <a:latin typeface="Courier New"/>
                <a:ea typeface="Courier New"/>
                <a:cs typeface="Courier New"/>
                <a:sym typeface="Courier New"/>
              </a:rPr>
              <a:t>main.c  ·  UART5 setup</a:t>
            </a:r>
            <a:endParaRPr b="0" i="0" sz="1050" u="none" cap="none" strike="noStrike">
              <a:solidFill>
                <a:schemeClr val="dk1"/>
              </a:solidFill>
              <a:latin typeface="Calibri"/>
              <a:ea typeface="Calibri"/>
              <a:cs typeface="Calibri"/>
              <a:sym typeface="Calibri"/>
            </a:endParaRPr>
          </a:p>
        </p:txBody>
      </p:sp>
      <p:sp>
        <p:nvSpPr>
          <p:cNvPr id="298" name="Google Shape;298;p10"/>
          <p:cNvSpPr/>
          <p:nvPr/>
        </p:nvSpPr>
        <p:spPr>
          <a:xfrm>
            <a:off x="6611112" y="2286000"/>
            <a:ext cx="4709160" cy="29580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3C7A0"/>
              </a:buClr>
              <a:buSzPts val="1250"/>
              <a:buFont typeface="Courier New"/>
              <a:buNone/>
            </a:pPr>
            <a:r>
              <a:rPr b="0" i="0" lang="en-US" sz="1250" u="none" cap="none" strike="noStrike">
                <a:solidFill>
                  <a:srgbClr val="83C7A0"/>
                </a:solidFill>
                <a:latin typeface="Courier New"/>
                <a:ea typeface="Courier New"/>
                <a:cs typeface="Courier New"/>
                <a:sym typeface="Courier New"/>
              </a:rPr>
              <a:t>// clocks</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SYSCTL-&gt;RCGCUART |= (1&lt;&lt;5);</a:t>
            </a:r>
            <a:r>
              <a:rPr b="0" i="0" lang="en-US" sz="1250" u="none" cap="none" strike="noStrike">
                <a:solidFill>
                  <a:srgbClr val="83C7A0"/>
                </a:solidFill>
                <a:latin typeface="Courier New"/>
                <a:ea typeface="Courier New"/>
                <a:cs typeface="Courier New"/>
                <a:sym typeface="Courier New"/>
              </a:rPr>
              <a:t>  // UART5</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SYSCTL-&gt;RCGCGPIO |= 0x10;</a:t>
            </a:r>
            <a:r>
              <a:rPr b="0" i="0" lang="en-US" sz="1250" u="none" cap="none" strike="noStrike">
                <a:solidFill>
                  <a:srgbClr val="83C7A0"/>
                </a:solidFill>
                <a:latin typeface="Courier New"/>
                <a:ea typeface="Courier New"/>
                <a:cs typeface="Courier New"/>
                <a:sym typeface="Courier New"/>
              </a:rPr>
              <a:t>  // Port E</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3C7A0"/>
              </a:buClr>
              <a:buSzPts val="1250"/>
              <a:buFont typeface="Courier New"/>
              <a:buNone/>
            </a:pPr>
            <a:r>
              <a:rPr b="0" i="0" lang="en-US" sz="1250" u="none" cap="none" strike="noStrike">
                <a:solidFill>
                  <a:srgbClr val="83C7A0"/>
                </a:solidFill>
                <a:latin typeface="Courier New"/>
                <a:ea typeface="Courier New"/>
                <a:cs typeface="Courier New"/>
                <a:sym typeface="Courier New"/>
              </a:rPr>
              <a:t>// baud = 9600  (16 MHz clock)</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UART5-&gt;IBRD = 104;</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UART5-&gt;FBRD = 11;</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UART5-&gt;LCRH = 0x60;</a:t>
            </a:r>
            <a:r>
              <a:rPr b="0" i="0" lang="en-US" sz="1250" u="none" cap="none" strike="noStrike">
                <a:solidFill>
                  <a:srgbClr val="83C7A0"/>
                </a:solidFill>
                <a:latin typeface="Courier New"/>
                <a:ea typeface="Courier New"/>
                <a:cs typeface="Courier New"/>
                <a:sym typeface="Courier New"/>
              </a:rPr>
              <a:t>  // 8N1</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UART5-&gt;CTL |= (1&lt;&lt;0)|(1&lt;&lt;8)|(1&lt;&lt;9);</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B44C"/>
              </a:buClr>
              <a:buSzPts val="1250"/>
              <a:buFont typeface="Courier New"/>
              <a:buNone/>
            </a:pPr>
            <a:r>
              <a:rPr b="0" i="0" lang="en-US" sz="1250" u="none" cap="none" strike="noStrike">
                <a:solidFill>
                  <a:srgbClr val="F5B44C"/>
                </a:solidFill>
                <a:latin typeface="Courier New"/>
                <a:ea typeface="Courier New"/>
                <a:cs typeface="Courier New"/>
                <a:sym typeface="Courier New"/>
              </a:rPr>
              <a:t>UART5-&gt;IM  |= (1&lt;&lt;4);</a:t>
            </a:r>
            <a:r>
              <a:rPr b="0" i="0" lang="en-US" sz="1250" u="none" cap="none" strike="noStrike">
                <a:solidFill>
                  <a:srgbClr val="83C7A0"/>
                </a:solidFill>
                <a:latin typeface="Courier New"/>
                <a:ea typeface="Courier New"/>
                <a:cs typeface="Courier New"/>
                <a:sym typeface="Courier New"/>
              </a:rPr>
              <a:t>  // RX interrupt</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30"/>
        </a:solidFill>
      </p:bgPr>
    </p:bg>
    <p:spTree>
      <p:nvGrpSpPr>
        <p:cNvPr id="303" name="Shape 303"/>
        <p:cNvGrpSpPr/>
        <p:nvPr/>
      </p:nvGrpSpPr>
      <p:grpSpPr>
        <a:xfrm>
          <a:off x="0" y="0"/>
          <a:ext cx="0" cy="0"/>
          <a:chOff x="0" y="0"/>
          <a:chExt cx="0" cy="0"/>
        </a:xfrm>
      </p:grpSpPr>
      <p:sp>
        <p:nvSpPr>
          <p:cNvPr id="304" name="Google Shape;304;p11"/>
          <p:cNvSpPr/>
          <p:nvPr/>
        </p:nvSpPr>
        <p:spPr>
          <a:xfrm>
            <a:off x="640080" y="475488"/>
            <a:ext cx="786384" cy="786384"/>
          </a:xfrm>
          <a:prstGeom prst="ellipse">
            <a:avLst/>
          </a:prstGeom>
          <a:solidFill>
            <a:srgbClr val="F5B44C"/>
          </a:solidFill>
          <a:ln>
            <a:noFill/>
          </a:ln>
          <a:effectLst>
            <a:outerShdw blurRad="101600" rotWithShape="0" algn="bl" dir="54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5" name="Google Shape;305;p11"/>
          <p:cNvPicPr preferRelativeResize="0"/>
          <p:nvPr/>
        </p:nvPicPr>
        <p:blipFill rotWithShape="1">
          <a:blip r:embed="rId3">
            <a:alphaModFix/>
          </a:blip>
          <a:srcRect b="0" l="0" r="0" t="0"/>
          <a:stretch/>
        </p:blipFill>
        <p:spPr>
          <a:xfrm>
            <a:off x="859536" y="694944"/>
            <a:ext cx="347472" cy="347472"/>
          </a:xfrm>
          <a:prstGeom prst="rect">
            <a:avLst/>
          </a:prstGeom>
          <a:noFill/>
          <a:ln>
            <a:noFill/>
          </a:ln>
        </p:spPr>
      </p:pic>
      <p:sp>
        <p:nvSpPr>
          <p:cNvPr id="306" name="Google Shape;306;p11"/>
          <p:cNvSpPr/>
          <p:nvPr/>
        </p:nvSpPr>
        <p:spPr>
          <a:xfrm>
            <a:off x="1627632" y="502920"/>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B44C"/>
              </a:buClr>
              <a:buSzPts val="1200"/>
              <a:buFont typeface="Calibri"/>
              <a:buNone/>
            </a:pPr>
            <a:r>
              <a:rPr b="1" i="0" lang="en-US" sz="1200" u="none" cap="none" strike="noStrike">
                <a:solidFill>
                  <a:srgbClr val="F5B44C"/>
                </a:solidFill>
                <a:latin typeface="Calibri"/>
                <a:ea typeface="Calibri"/>
                <a:cs typeface="Calibri"/>
                <a:sym typeface="Calibri"/>
              </a:rPr>
              <a:t>REAL-TIME CONTROL</a:t>
            </a:r>
            <a:endParaRPr b="0" i="0" sz="1200" u="none" cap="none" strike="noStrike">
              <a:solidFill>
                <a:schemeClr val="dk1"/>
              </a:solidFill>
              <a:latin typeface="Calibri"/>
              <a:ea typeface="Calibri"/>
              <a:cs typeface="Calibri"/>
              <a:sym typeface="Calibri"/>
            </a:endParaRPr>
          </a:p>
        </p:txBody>
      </p:sp>
      <p:sp>
        <p:nvSpPr>
          <p:cNvPr id="307" name="Google Shape;307;p11"/>
          <p:cNvSpPr/>
          <p:nvPr/>
        </p:nvSpPr>
        <p:spPr>
          <a:xfrm>
            <a:off x="1600200" y="749808"/>
            <a:ext cx="10241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3000"/>
              <a:buFont typeface="Calibri"/>
              <a:buNone/>
            </a:pPr>
            <a:r>
              <a:rPr b="1" i="0" lang="en-US" sz="3000" u="none" cap="none" strike="noStrike">
                <a:solidFill>
                  <a:srgbClr val="F4F7FB"/>
                </a:solidFill>
                <a:latin typeface="Calibri"/>
                <a:ea typeface="Calibri"/>
                <a:cs typeface="Calibri"/>
                <a:sym typeface="Calibri"/>
              </a:rPr>
              <a:t>The Interrupt Handler</a:t>
            </a:r>
            <a:endParaRPr b="0" i="0" sz="3000" u="none" cap="none" strike="noStrike">
              <a:solidFill>
                <a:schemeClr val="dk1"/>
              </a:solidFill>
              <a:latin typeface="Calibri"/>
              <a:ea typeface="Calibri"/>
              <a:cs typeface="Calibri"/>
              <a:sym typeface="Calibri"/>
            </a:endParaRPr>
          </a:p>
        </p:txBody>
      </p:sp>
      <p:sp>
        <p:nvSpPr>
          <p:cNvPr id="308" name="Google Shape;308;p11"/>
          <p:cNvSpPr/>
          <p:nvPr/>
        </p:nvSpPr>
        <p:spPr>
          <a:xfrm>
            <a:off x="10424160" y="658368"/>
            <a:ext cx="845820" cy="310896"/>
          </a:xfrm>
          <a:prstGeom prst="roundRect">
            <a:avLst>
              <a:gd fmla="val 20588" name="adj"/>
            </a:avLst>
          </a:prstGeom>
          <a:solidFill>
            <a:srgbClr val="0E1A30"/>
          </a:solidFill>
          <a:ln cap="flat" cmpd="sng" w="15875">
            <a:solidFill>
              <a:srgbClr val="F5B4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10424160" y="658368"/>
            <a:ext cx="8458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B44C"/>
              </a:buClr>
              <a:buSzPts val="1050"/>
              <a:buFont typeface="Calibri"/>
              <a:buNone/>
            </a:pPr>
            <a:r>
              <a:rPr b="1" i="0" lang="en-US" sz="1050" u="none" cap="none" strike="noStrike">
                <a:solidFill>
                  <a:srgbClr val="F5B44C"/>
                </a:solidFill>
                <a:latin typeface="Calibri"/>
                <a:ea typeface="Calibri"/>
                <a:cs typeface="Calibri"/>
                <a:sym typeface="Calibri"/>
              </a:rPr>
              <a:t>LAB 3</a:t>
            </a:r>
            <a:endParaRPr b="0" i="0" sz="1050" u="none" cap="none" strike="noStrike">
              <a:solidFill>
                <a:schemeClr val="dk1"/>
              </a:solidFill>
              <a:latin typeface="Calibri"/>
              <a:ea typeface="Calibri"/>
              <a:cs typeface="Calibri"/>
              <a:sym typeface="Calibri"/>
            </a:endParaRPr>
          </a:p>
        </p:txBody>
      </p:sp>
      <p:sp>
        <p:nvSpPr>
          <p:cNvPr id="310" name="Google Shape;310;p11"/>
          <p:cNvSpPr/>
          <p:nvPr/>
        </p:nvSpPr>
        <p:spPr>
          <a:xfrm>
            <a:off x="731520" y="1847088"/>
            <a:ext cx="402336" cy="402336"/>
          </a:xfrm>
          <a:prstGeom prst="ellipse">
            <a:avLst/>
          </a:prstGeom>
          <a:solidFill>
            <a:srgbClr val="F5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1" name="Google Shape;311;p11"/>
          <p:cNvPicPr preferRelativeResize="0"/>
          <p:nvPr/>
        </p:nvPicPr>
        <p:blipFill rotWithShape="1">
          <a:blip r:embed="rId3">
            <a:alphaModFix/>
          </a:blip>
          <a:srcRect b="0" l="0" r="0" t="0"/>
          <a:stretch/>
        </p:blipFill>
        <p:spPr>
          <a:xfrm>
            <a:off x="841248" y="1956816"/>
            <a:ext cx="182880" cy="182880"/>
          </a:xfrm>
          <a:prstGeom prst="rect">
            <a:avLst/>
          </a:prstGeom>
          <a:noFill/>
          <a:ln>
            <a:noFill/>
          </a:ln>
        </p:spPr>
      </p:pic>
      <p:sp>
        <p:nvSpPr>
          <p:cNvPr id="312" name="Google Shape;312;p11"/>
          <p:cNvSpPr/>
          <p:nvPr/>
        </p:nvSpPr>
        <p:spPr>
          <a:xfrm>
            <a:off x="1280160" y="1828800"/>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No polling</a:t>
            </a:r>
            <a:endParaRPr b="0" i="0" sz="1500" u="none" cap="none" strike="noStrike">
              <a:solidFill>
                <a:schemeClr val="dk1"/>
              </a:solidFill>
              <a:latin typeface="Calibri"/>
              <a:ea typeface="Calibri"/>
              <a:cs typeface="Calibri"/>
              <a:sym typeface="Calibri"/>
            </a:endParaRPr>
          </a:p>
        </p:txBody>
      </p:sp>
      <p:sp>
        <p:nvSpPr>
          <p:cNvPr id="313" name="Google Shape;313;p11"/>
          <p:cNvSpPr/>
          <p:nvPr/>
        </p:nvSpPr>
        <p:spPr>
          <a:xfrm>
            <a:off x="1280160" y="2139696"/>
            <a:ext cx="466344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When a byte arrives, the hardware runs UART5_Handler on its own.</a:t>
            </a:r>
            <a:endParaRPr b="0" i="0" sz="1250" u="none" cap="none" strike="noStrike">
              <a:solidFill>
                <a:schemeClr val="dk1"/>
              </a:solidFill>
              <a:latin typeface="Calibri"/>
              <a:ea typeface="Calibri"/>
              <a:cs typeface="Calibri"/>
              <a:sym typeface="Calibri"/>
            </a:endParaRPr>
          </a:p>
        </p:txBody>
      </p:sp>
      <p:sp>
        <p:nvSpPr>
          <p:cNvPr id="314" name="Google Shape;314;p11"/>
          <p:cNvSpPr/>
          <p:nvPr/>
        </p:nvSpPr>
        <p:spPr>
          <a:xfrm>
            <a:off x="731520" y="2807208"/>
            <a:ext cx="402336" cy="402336"/>
          </a:xfrm>
          <a:prstGeom prst="ellipse">
            <a:avLst/>
          </a:prstGeom>
          <a:solidFill>
            <a:srgbClr val="F5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5" name="Google Shape;315;p11"/>
          <p:cNvPicPr preferRelativeResize="0"/>
          <p:nvPr/>
        </p:nvPicPr>
        <p:blipFill rotWithShape="1">
          <a:blip r:embed="rId4">
            <a:alphaModFix/>
          </a:blip>
          <a:srcRect b="0" l="0" r="0" t="0"/>
          <a:stretch/>
        </p:blipFill>
        <p:spPr>
          <a:xfrm>
            <a:off x="841248" y="2916936"/>
            <a:ext cx="182880" cy="182880"/>
          </a:xfrm>
          <a:prstGeom prst="rect">
            <a:avLst/>
          </a:prstGeom>
          <a:noFill/>
          <a:ln>
            <a:noFill/>
          </a:ln>
        </p:spPr>
      </p:pic>
      <p:sp>
        <p:nvSpPr>
          <p:cNvPr id="316" name="Google Shape;316;p11"/>
          <p:cNvSpPr/>
          <p:nvPr/>
        </p:nvSpPr>
        <p:spPr>
          <a:xfrm>
            <a:off x="1280160" y="2788920"/>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Keep the ISR short</a:t>
            </a:r>
            <a:endParaRPr b="0" i="0" sz="1500" u="none" cap="none" strike="noStrike">
              <a:solidFill>
                <a:schemeClr val="dk1"/>
              </a:solidFill>
              <a:latin typeface="Calibri"/>
              <a:ea typeface="Calibri"/>
              <a:cs typeface="Calibri"/>
              <a:sym typeface="Calibri"/>
            </a:endParaRPr>
          </a:p>
        </p:txBody>
      </p:sp>
      <p:sp>
        <p:nvSpPr>
          <p:cNvPr id="317" name="Google Shape;317;p11"/>
          <p:cNvSpPr/>
          <p:nvPr/>
        </p:nvSpPr>
        <p:spPr>
          <a:xfrm>
            <a:off x="1280160" y="3099816"/>
            <a:ext cx="466344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Read the byte, store it in a volatile command, return. That is all.</a:t>
            </a:r>
            <a:endParaRPr b="0" i="0" sz="1250" u="none" cap="none" strike="noStrike">
              <a:solidFill>
                <a:schemeClr val="dk1"/>
              </a:solidFill>
              <a:latin typeface="Calibri"/>
              <a:ea typeface="Calibri"/>
              <a:cs typeface="Calibri"/>
              <a:sym typeface="Calibri"/>
            </a:endParaRPr>
          </a:p>
        </p:txBody>
      </p:sp>
      <p:sp>
        <p:nvSpPr>
          <p:cNvPr id="318" name="Google Shape;318;p11"/>
          <p:cNvSpPr/>
          <p:nvPr/>
        </p:nvSpPr>
        <p:spPr>
          <a:xfrm>
            <a:off x="731520" y="3767328"/>
            <a:ext cx="402336" cy="402336"/>
          </a:xfrm>
          <a:prstGeom prst="ellipse">
            <a:avLst/>
          </a:prstGeom>
          <a:solidFill>
            <a:srgbClr val="F5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9" name="Google Shape;319;p11"/>
          <p:cNvPicPr preferRelativeResize="0"/>
          <p:nvPr/>
        </p:nvPicPr>
        <p:blipFill rotWithShape="1">
          <a:blip r:embed="rId5">
            <a:alphaModFix/>
          </a:blip>
          <a:srcRect b="0" l="0" r="0" t="0"/>
          <a:stretch/>
        </p:blipFill>
        <p:spPr>
          <a:xfrm>
            <a:off x="841248" y="3877056"/>
            <a:ext cx="182880" cy="182880"/>
          </a:xfrm>
          <a:prstGeom prst="rect">
            <a:avLst/>
          </a:prstGeom>
          <a:noFill/>
          <a:ln>
            <a:noFill/>
          </a:ln>
        </p:spPr>
      </p:pic>
      <p:sp>
        <p:nvSpPr>
          <p:cNvPr id="320" name="Google Shape;320;p11"/>
          <p:cNvSpPr/>
          <p:nvPr/>
        </p:nvSpPr>
        <p:spPr>
          <a:xfrm>
            <a:off x="1280160" y="3749040"/>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Hand off to main()</a:t>
            </a:r>
            <a:endParaRPr b="0" i="0" sz="1500" u="none" cap="none" strike="noStrike">
              <a:solidFill>
                <a:schemeClr val="dk1"/>
              </a:solidFill>
              <a:latin typeface="Calibri"/>
              <a:ea typeface="Calibri"/>
              <a:cs typeface="Calibri"/>
              <a:sym typeface="Calibri"/>
            </a:endParaRPr>
          </a:p>
        </p:txBody>
      </p:sp>
      <p:sp>
        <p:nvSpPr>
          <p:cNvPr id="321" name="Google Shape;321;p11"/>
          <p:cNvSpPr/>
          <p:nvPr/>
        </p:nvSpPr>
        <p:spPr>
          <a:xfrm>
            <a:off x="1280160" y="4059936"/>
            <a:ext cx="466344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The main loop reads command and plays the matching song.</a:t>
            </a:r>
            <a:endParaRPr b="0" i="0" sz="1250" u="none" cap="none" strike="noStrike">
              <a:solidFill>
                <a:schemeClr val="dk1"/>
              </a:solidFill>
              <a:latin typeface="Calibri"/>
              <a:ea typeface="Calibri"/>
              <a:cs typeface="Calibri"/>
              <a:sym typeface="Calibri"/>
            </a:endParaRPr>
          </a:p>
        </p:txBody>
      </p:sp>
      <p:sp>
        <p:nvSpPr>
          <p:cNvPr id="322" name="Google Shape;322;p11"/>
          <p:cNvSpPr/>
          <p:nvPr/>
        </p:nvSpPr>
        <p:spPr>
          <a:xfrm>
            <a:off x="731520" y="4727448"/>
            <a:ext cx="402336" cy="402336"/>
          </a:xfrm>
          <a:prstGeom prst="ellipse">
            <a:avLst/>
          </a:prstGeom>
          <a:solidFill>
            <a:srgbClr val="F5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3" name="Google Shape;323;p11"/>
          <p:cNvPicPr preferRelativeResize="0"/>
          <p:nvPr/>
        </p:nvPicPr>
        <p:blipFill rotWithShape="1">
          <a:blip r:embed="rId6">
            <a:alphaModFix/>
          </a:blip>
          <a:srcRect b="0" l="0" r="0" t="0"/>
          <a:stretch/>
        </p:blipFill>
        <p:spPr>
          <a:xfrm>
            <a:off x="841248" y="4837176"/>
            <a:ext cx="182880" cy="182880"/>
          </a:xfrm>
          <a:prstGeom prst="rect">
            <a:avLst/>
          </a:prstGeom>
          <a:noFill/>
          <a:ln>
            <a:noFill/>
          </a:ln>
        </p:spPr>
      </p:pic>
      <p:sp>
        <p:nvSpPr>
          <p:cNvPr id="324" name="Google Shape;324;p11"/>
          <p:cNvSpPr/>
          <p:nvPr/>
        </p:nvSpPr>
        <p:spPr>
          <a:xfrm>
            <a:off x="1280160" y="4709160"/>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Interrupt a song</a:t>
            </a:r>
            <a:endParaRPr b="0" i="0" sz="1500" u="none" cap="none" strike="noStrike">
              <a:solidFill>
                <a:schemeClr val="dk1"/>
              </a:solidFill>
              <a:latin typeface="Calibri"/>
              <a:ea typeface="Calibri"/>
              <a:cs typeface="Calibri"/>
              <a:sym typeface="Calibri"/>
            </a:endParaRPr>
          </a:p>
        </p:txBody>
      </p:sp>
      <p:sp>
        <p:nvSpPr>
          <p:cNvPr id="325" name="Google Shape;325;p11"/>
          <p:cNvSpPr/>
          <p:nvPr/>
        </p:nvSpPr>
        <p:spPr>
          <a:xfrm>
            <a:off x="1280160" y="5020056"/>
            <a:ext cx="466344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playSong() checks command between notes, so a new key switches or stops mid-song.</a:t>
            </a:r>
            <a:endParaRPr b="0" i="0" sz="1250" u="none" cap="none" strike="noStrike">
              <a:solidFill>
                <a:schemeClr val="dk1"/>
              </a:solidFill>
              <a:latin typeface="Calibri"/>
              <a:ea typeface="Calibri"/>
              <a:cs typeface="Calibri"/>
              <a:sym typeface="Calibri"/>
            </a:endParaRPr>
          </a:p>
        </p:txBody>
      </p:sp>
      <p:sp>
        <p:nvSpPr>
          <p:cNvPr id="326" name="Google Shape;326;p11"/>
          <p:cNvSpPr/>
          <p:nvPr/>
        </p:nvSpPr>
        <p:spPr>
          <a:xfrm>
            <a:off x="6355080" y="1828800"/>
            <a:ext cx="5166360" cy="3506724"/>
          </a:xfrm>
          <a:prstGeom prst="roundRect">
            <a:avLst>
              <a:gd fmla="val 2608" name="adj"/>
            </a:avLst>
          </a:prstGeom>
          <a:solidFill>
            <a:srgbClr val="0A1526"/>
          </a:solidFill>
          <a:ln cap="flat" cmpd="sng" w="12700">
            <a:solidFill>
              <a:srgbClr val="22344F"/>
            </a:solidFill>
            <a:prstDash val="solid"/>
            <a:round/>
            <a:headEnd len="sm" w="sm" type="none"/>
            <a:tailEnd len="sm" w="sm" type="none"/>
          </a:ln>
          <a:effectLst>
            <a:outerShdw blurRad="127000" rotWithShape="0" algn="bl" dir="5400000" dist="508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1"/>
          <p:cNvSpPr/>
          <p:nvPr/>
        </p:nvSpPr>
        <p:spPr>
          <a:xfrm>
            <a:off x="6537960" y="1993392"/>
            <a:ext cx="100584" cy="100584"/>
          </a:xfrm>
          <a:prstGeom prst="ellipse">
            <a:avLst/>
          </a:prstGeom>
          <a:solidFill>
            <a:srgbClr val="E56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p:nvPr/>
        </p:nvSpPr>
        <p:spPr>
          <a:xfrm>
            <a:off x="6693408" y="1993392"/>
            <a:ext cx="100584" cy="100584"/>
          </a:xfrm>
          <a:prstGeom prst="ellipse">
            <a:avLst/>
          </a:prstGeom>
          <a:solidFill>
            <a:srgbClr val="E8B0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1"/>
          <p:cNvSpPr/>
          <p:nvPr/>
        </p:nvSpPr>
        <p:spPr>
          <a:xfrm>
            <a:off x="6848856" y="1993392"/>
            <a:ext cx="100584" cy="100584"/>
          </a:xfrm>
          <a:prstGeom prst="ellipse">
            <a:avLst/>
          </a:prstGeom>
          <a:solidFill>
            <a:srgbClr val="6FB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1"/>
          <p:cNvSpPr/>
          <p:nvPr/>
        </p:nvSpPr>
        <p:spPr>
          <a:xfrm>
            <a:off x="7086600" y="1938528"/>
            <a:ext cx="4251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2A6"/>
              </a:buClr>
              <a:buSzPts val="1050"/>
              <a:buFont typeface="Courier New"/>
              <a:buNone/>
            </a:pPr>
            <a:r>
              <a:rPr b="0" i="1" lang="en-US" sz="1050" u="none" cap="none" strike="noStrike">
                <a:solidFill>
                  <a:srgbClr val="6E82A6"/>
                </a:solidFill>
                <a:latin typeface="Courier New"/>
                <a:ea typeface="Courier New"/>
                <a:cs typeface="Courier New"/>
                <a:sym typeface="Courier New"/>
              </a:rPr>
              <a:t>main.c  ·  the ISR + NVIC</a:t>
            </a:r>
            <a:endParaRPr b="0" i="0" sz="1050" u="none" cap="none" strike="noStrike">
              <a:solidFill>
                <a:schemeClr val="dk1"/>
              </a:solidFill>
              <a:latin typeface="Calibri"/>
              <a:ea typeface="Calibri"/>
              <a:cs typeface="Calibri"/>
              <a:sym typeface="Calibri"/>
            </a:endParaRPr>
          </a:p>
        </p:txBody>
      </p:sp>
      <p:sp>
        <p:nvSpPr>
          <p:cNvPr id="331" name="Google Shape;331;p11"/>
          <p:cNvSpPr/>
          <p:nvPr/>
        </p:nvSpPr>
        <p:spPr>
          <a:xfrm>
            <a:off x="6611112" y="2286000"/>
            <a:ext cx="4709160" cy="29580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void UART5_Handler(void) {</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if (UART5-&gt;MIS &amp; (1&lt;&lt;4)) {</a:t>
            </a:r>
            <a:r>
              <a:rPr b="0" i="0" lang="en-US" sz="1250" u="none" cap="none" strike="noStrike">
                <a:solidFill>
                  <a:srgbClr val="83C7A0"/>
                </a:solidFill>
                <a:latin typeface="Courier New"/>
                <a:ea typeface="Courier New"/>
                <a:cs typeface="Courier New"/>
                <a:sym typeface="Courier New"/>
              </a:rPr>
              <a:t>  // RX?</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char ch = UART5-&gt;DR;</a:t>
            </a:r>
            <a:r>
              <a:rPr b="0" i="0" lang="en-US" sz="1250" u="none" cap="none" strike="noStrike">
                <a:solidFill>
                  <a:srgbClr val="83C7A0"/>
                </a:solidFill>
                <a:latin typeface="Courier New"/>
                <a:ea typeface="Courier New"/>
                <a:cs typeface="Courier New"/>
                <a:sym typeface="Courier New"/>
              </a:rPr>
              <a:t>  // read</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if (ch!='\r' &amp;&amp; ch!='\n')</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command = ch;</a:t>
            </a:r>
            <a:r>
              <a:rPr b="0" i="0" lang="en-US" sz="1250" u="none" cap="none" strike="noStrike">
                <a:solidFill>
                  <a:srgbClr val="83C7A0"/>
                </a:solidFill>
                <a:latin typeface="Courier New"/>
                <a:ea typeface="Courier New"/>
                <a:cs typeface="Courier New"/>
                <a:sym typeface="Courier New"/>
              </a:rPr>
              <a:t>  // to main</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B44C"/>
              </a:buClr>
              <a:buSzPts val="1250"/>
              <a:buFont typeface="Courier New"/>
              <a:buNone/>
            </a:pPr>
            <a:r>
              <a:rPr b="0" i="0" lang="en-US" sz="1250" u="none" cap="none" strike="noStrike">
                <a:solidFill>
                  <a:srgbClr val="F5B44C"/>
                </a:solidFill>
                <a:latin typeface="Courier New"/>
                <a:ea typeface="Courier New"/>
                <a:cs typeface="Courier New"/>
                <a:sym typeface="Courier New"/>
              </a:rPr>
              <a:t>  UART5-&gt;ICR = 0x7F0;</a:t>
            </a:r>
            <a:r>
              <a:rPr b="0" i="0" lang="en-US" sz="1250" u="none" cap="none" strike="noStrike">
                <a:solidFill>
                  <a:srgbClr val="83C7A0"/>
                </a:solidFill>
                <a:latin typeface="Courier New"/>
                <a:ea typeface="Courier New"/>
                <a:cs typeface="Courier New"/>
                <a:sym typeface="Courier New"/>
              </a:rPr>
              <a:t>  // clear ALL</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NVIC-&gt;IPR[61]  = 3 &lt;&lt; 5;</a:t>
            </a:r>
            <a:r>
              <a:rPr b="0" i="0" lang="en-US" sz="1250" u="none" cap="none" strike="noStrike">
                <a:solidFill>
                  <a:srgbClr val="83C7A0"/>
                </a:solidFill>
                <a:latin typeface="Courier New"/>
                <a:ea typeface="Courier New"/>
                <a:cs typeface="Courier New"/>
                <a:sym typeface="Courier New"/>
              </a:rPr>
              <a:t>  // priority</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NVIC-&gt;ISER[1] |= 1 &lt;&lt; (61-32);</a:t>
            </a:r>
            <a:r>
              <a:rPr b="0" i="0" lang="en-US" sz="1250" u="none" cap="none" strike="noStrike">
                <a:solidFill>
                  <a:srgbClr val="83C7A0"/>
                </a:solidFill>
                <a:latin typeface="Courier New"/>
                <a:ea typeface="Courier New"/>
                <a:cs typeface="Courier New"/>
                <a:sym typeface="Courier New"/>
              </a:rPr>
              <a:t>  // enable 61</a:t>
            </a:r>
            <a:endParaRPr b="0" i="0" sz="1250" u="none" cap="none" strike="noStrike">
              <a:solidFill>
                <a:schemeClr val="dk1"/>
              </a:solidFill>
              <a:latin typeface="Calibri"/>
              <a:ea typeface="Calibri"/>
              <a:cs typeface="Calibri"/>
              <a:sym typeface="Calibri"/>
            </a:endParaRPr>
          </a:p>
        </p:txBody>
      </p:sp>
      <p:sp>
        <p:nvSpPr>
          <p:cNvPr id="332" name="Google Shape;332;p11"/>
          <p:cNvSpPr/>
          <p:nvPr/>
        </p:nvSpPr>
        <p:spPr>
          <a:xfrm>
            <a:off x="731520" y="5715000"/>
            <a:ext cx="5166360" cy="658368"/>
          </a:xfrm>
          <a:prstGeom prst="roundRect">
            <a:avLst>
              <a:gd fmla="val 13889" name="adj"/>
            </a:avLst>
          </a:prstGeom>
          <a:solidFill>
            <a:srgbClr val="2A2036"/>
          </a:solidFill>
          <a:ln cap="flat" cmpd="sng" w="15875">
            <a:solidFill>
              <a:srgbClr val="F5B4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1"/>
          <p:cNvSpPr/>
          <p:nvPr/>
        </p:nvSpPr>
        <p:spPr>
          <a:xfrm>
            <a:off x="914400" y="5715000"/>
            <a:ext cx="4846320" cy="658368"/>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F5B44C"/>
              </a:buClr>
              <a:buSzPts val="1200"/>
              <a:buFont typeface="Calibri"/>
              <a:buNone/>
            </a:pPr>
            <a:r>
              <a:rPr b="1" i="0" lang="en-US" sz="1200" u="none" cap="none" strike="noStrike">
                <a:solidFill>
                  <a:srgbClr val="F5B44C"/>
                </a:solidFill>
                <a:latin typeface="Calibri"/>
                <a:ea typeface="Calibri"/>
                <a:cs typeface="Calibri"/>
                <a:sym typeface="Calibri"/>
              </a:rPr>
              <a:t>Lab 3 lesson:  </a:t>
            </a:r>
            <a:r>
              <a:rPr b="0" i="0" lang="en-US" sz="1200" u="none" cap="none" strike="noStrike">
                <a:solidFill>
                  <a:srgbClr val="F4F7FB"/>
                </a:solidFill>
                <a:latin typeface="Calibri"/>
                <a:ea typeface="Calibri"/>
                <a:cs typeface="Calibri"/>
                <a:sym typeface="Calibri"/>
              </a:rPr>
              <a:t>clear the flag or you loop forever in the ISR. We clear every UART flag (0x7F0), which fixed a real bug.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30"/>
        </a:solidFill>
      </p:bgPr>
    </p:bg>
    <p:spTree>
      <p:nvGrpSpPr>
        <p:cNvPr id="338" name="Shape 338"/>
        <p:cNvGrpSpPr/>
        <p:nvPr/>
      </p:nvGrpSpPr>
      <p:grpSpPr>
        <a:xfrm>
          <a:off x="0" y="0"/>
          <a:ext cx="0" cy="0"/>
          <a:chOff x="0" y="0"/>
          <a:chExt cx="0" cy="0"/>
        </a:xfrm>
      </p:grpSpPr>
      <p:sp>
        <p:nvSpPr>
          <p:cNvPr id="339" name="Google Shape;339;p12"/>
          <p:cNvSpPr/>
          <p:nvPr/>
        </p:nvSpPr>
        <p:spPr>
          <a:xfrm>
            <a:off x="640080" y="475488"/>
            <a:ext cx="786384" cy="786384"/>
          </a:xfrm>
          <a:prstGeom prst="ellipse">
            <a:avLst/>
          </a:prstGeom>
          <a:solidFill>
            <a:srgbClr val="E5686B"/>
          </a:solidFill>
          <a:ln>
            <a:noFill/>
          </a:ln>
          <a:effectLst>
            <a:outerShdw blurRad="101600" rotWithShape="0" algn="bl" dir="54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0" name="Google Shape;340;p12"/>
          <p:cNvPicPr preferRelativeResize="0"/>
          <p:nvPr/>
        </p:nvPicPr>
        <p:blipFill rotWithShape="1">
          <a:blip r:embed="rId3">
            <a:alphaModFix/>
          </a:blip>
          <a:srcRect b="0" l="0" r="0" t="0"/>
          <a:stretch/>
        </p:blipFill>
        <p:spPr>
          <a:xfrm>
            <a:off x="859536" y="694944"/>
            <a:ext cx="347472" cy="347472"/>
          </a:xfrm>
          <a:prstGeom prst="rect">
            <a:avLst/>
          </a:prstGeom>
          <a:noFill/>
          <a:ln>
            <a:noFill/>
          </a:ln>
        </p:spPr>
      </p:pic>
      <p:sp>
        <p:nvSpPr>
          <p:cNvPr id="341" name="Google Shape;341;p12"/>
          <p:cNvSpPr/>
          <p:nvPr/>
        </p:nvSpPr>
        <p:spPr>
          <a:xfrm>
            <a:off x="1627632" y="502920"/>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686B"/>
              </a:buClr>
              <a:buSzPts val="1200"/>
              <a:buFont typeface="Calibri"/>
              <a:buNone/>
            </a:pPr>
            <a:r>
              <a:rPr b="1" i="0" lang="en-US" sz="1200" u="none" cap="none" strike="noStrike">
                <a:solidFill>
                  <a:srgbClr val="E5686B"/>
                </a:solidFill>
                <a:latin typeface="Calibri"/>
                <a:ea typeface="Calibri"/>
                <a:cs typeface="Calibri"/>
                <a:sym typeface="Calibri"/>
              </a:rPr>
              <a:t>WHAT ALMOST BROKE IT</a:t>
            </a:r>
            <a:endParaRPr b="0" i="0" sz="1200" u="none" cap="none" strike="noStrike">
              <a:solidFill>
                <a:schemeClr val="dk1"/>
              </a:solidFill>
              <a:latin typeface="Calibri"/>
              <a:ea typeface="Calibri"/>
              <a:cs typeface="Calibri"/>
              <a:sym typeface="Calibri"/>
            </a:endParaRPr>
          </a:p>
        </p:txBody>
      </p:sp>
      <p:sp>
        <p:nvSpPr>
          <p:cNvPr id="342" name="Google Shape;342;p12"/>
          <p:cNvSpPr/>
          <p:nvPr/>
        </p:nvSpPr>
        <p:spPr>
          <a:xfrm>
            <a:off x="1600200" y="749808"/>
            <a:ext cx="10241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3000"/>
              <a:buFont typeface="Calibri"/>
              <a:buNone/>
            </a:pPr>
            <a:r>
              <a:rPr b="1" i="0" lang="en-US" sz="3000" u="none" cap="none" strike="noStrike">
                <a:solidFill>
                  <a:srgbClr val="F4F7FB"/>
                </a:solidFill>
                <a:latin typeface="Calibri"/>
                <a:ea typeface="Calibri"/>
                <a:cs typeface="Calibri"/>
                <a:sym typeface="Calibri"/>
              </a:rPr>
              <a:t>Debugging: The 50 MHz Clock Bug</a:t>
            </a:r>
            <a:endParaRPr b="0" i="0" sz="3000" u="none" cap="none" strike="noStrike">
              <a:solidFill>
                <a:schemeClr val="dk1"/>
              </a:solidFill>
              <a:latin typeface="Calibri"/>
              <a:ea typeface="Calibri"/>
              <a:cs typeface="Calibri"/>
              <a:sym typeface="Calibri"/>
            </a:endParaRPr>
          </a:p>
        </p:txBody>
      </p:sp>
      <p:sp>
        <p:nvSpPr>
          <p:cNvPr id="343" name="Google Shape;343;p12"/>
          <p:cNvSpPr/>
          <p:nvPr/>
        </p:nvSpPr>
        <p:spPr>
          <a:xfrm>
            <a:off x="10424160" y="658368"/>
            <a:ext cx="845820" cy="310896"/>
          </a:xfrm>
          <a:prstGeom prst="roundRect">
            <a:avLst>
              <a:gd fmla="val 20588" name="adj"/>
            </a:avLst>
          </a:prstGeom>
          <a:solidFill>
            <a:srgbClr val="0E1A30"/>
          </a:solidFill>
          <a:ln cap="flat" cmpd="sng" w="15875">
            <a:solidFill>
              <a:srgbClr val="E568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2"/>
          <p:cNvSpPr/>
          <p:nvPr/>
        </p:nvSpPr>
        <p:spPr>
          <a:xfrm>
            <a:off x="10424160" y="658368"/>
            <a:ext cx="8458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5686B"/>
              </a:buClr>
              <a:buSzPts val="1050"/>
              <a:buFont typeface="Calibri"/>
              <a:buNone/>
            </a:pPr>
            <a:r>
              <a:rPr b="1" i="0" lang="en-US" sz="1050" u="none" cap="none" strike="noStrike">
                <a:solidFill>
                  <a:srgbClr val="E5686B"/>
                </a:solidFill>
                <a:latin typeface="Calibri"/>
                <a:ea typeface="Calibri"/>
                <a:cs typeface="Calibri"/>
                <a:sym typeface="Calibri"/>
              </a:rPr>
              <a:t>LAB 2</a:t>
            </a:r>
            <a:endParaRPr b="0" i="0" sz="1050" u="none" cap="none" strike="noStrike">
              <a:solidFill>
                <a:schemeClr val="dk1"/>
              </a:solidFill>
              <a:latin typeface="Calibri"/>
              <a:ea typeface="Calibri"/>
              <a:cs typeface="Calibri"/>
              <a:sym typeface="Calibri"/>
            </a:endParaRPr>
          </a:p>
        </p:txBody>
      </p:sp>
      <p:sp>
        <p:nvSpPr>
          <p:cNvPr id="345" name="Google Shape;345;p12"/>
          <p:cNvSpPr/>
          <p:nvPr/>
        </p:nvSpPr>
        <p:spPr>
          <a:xfrm>
            <a:off x="685800" y="1828800"/>
            <a:ext cx="5486400" cy="1051560"/>
          </a:xfrm>
          <a:prstGeom prst="roundRect">
            <a:avLst>
              <a:gd fmla="val 8696"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2"/>
          <p:cNvSpPr/>
          <p:nvPr/>
        </p:nvSpPr>
        <p:spPr>
          <a:xfrm>
            <a:off x="868680" y="2029968"/>
            <a:ext cx="365760" cy="365760"/>
          </a:xfrm>
          <a:prstGeom prst="ellipse">
            <a:avLst/>
          </a:prstGeom>
          <a:solidFill>
            <a:srgbClr val="E56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2"/>
          <p:cNvSpPr/>
          <p:nvPr/>
        </p:nvSpPr>
        <p:spPr>
          <a:xfrm>
            <a:off x="1371600" y="1975104"/>
            <a:ext cx="4572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686B"/>
              </a:buClr>
              <a:buSzPts val="1500"/>
              <a:buFont typeface="Calibri"/>
              <a:buNone/>
            </a:pPr>
            <a:r>
              <a:rPr b="1" i="0" lang="en-US" sz="1500" u="none" cap="none" strike="noStrike">
                <a:solidFill>
                  <a:srgbClr val="E5686B"/>
                </a:solidFill>
                <a:latin typeface="Calibri"/>
                <a:ea typeface="Calibri"/>
                <a:cs typeface="Calibri"/>
                <a:sym typeface="Calibri"/>
              </a:rPr>
              <a:t>Symptom</a:t>
            </a:r>
            <a:endParaRPr b="0" i="0" sz="1500" u="none" cap="none" strike="noStrike">
              <a:solidFill>
                <a:schemeClr val="dk1"/>
              </a:solidFill>
              <a:latin typeface="Calibri"/>
              <a:ea typeface="Calibri"/>
              <a:cs typeface="Calibri"/>
              <a:sym typeface="Calibri"/>
            </a:endParaRPr>
          </a:p>
        </p:txBody>
      </p:sp>
      <p:sp>
        <p:nvSpPr>
          <p:cNvPr id="348" name="Google Shape;348;p12"/>
          <p:cNvSpPr/>
          <p:nvPr/>
        </p:nvSpPr>
        <p:spPr>
          <a:xfrm>
            <a:off x="1371600" y="2304288"/>
            <a:ext cx="4617720" cy="4846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Board connected and the byte arrived, but no song played, and the startup chirp sounded too high.</a:t>
            </a:r>
            <a:endParaRPr b="0" i="0" sz="1250" u="none" cap="none" strike="noStrike">
              <a:solidFill>
                <a:schemeClr val="dk1"/>
              </a:solidFill>
              <a:latin typeface="Calibri"/>
              <a:ea typeface="Calibri"/>
              <a:cs typeface="Calibri"/>
              <a:sym typeface="Calibri"/>
            </a:endParaRPr>
          </a:p>
        </p:txBody>
      </p:sp>
      <p:sp>
        <p:nvSpPr>
          <p:cNvPr id="349" name="Google Shape;349;p12"/>
          <p:cNvSpPr/>
          <p:nvPr/>
        </p:nvSpPr>
        <p:spPr>
          <a:xfrm>
            <a:off x="685800" y="3026664"/>
            <a:ext cx="5486400" cy="1371600"/>
          </a:xfrm>
          <a:prstGeom prst="roundRect">
            <a:avLst>
              <a:gd fmla="val 6667"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2"/>
          <p:cNvSpPr/>
          <p:nvPr/>
        </p:nvSpPr>
        <p:spPr>
          <a:xfrm>
            <a:off x="868680" y="3227832"/>
            <a:ext cx="365760" cy="365760"/>
          </a:xfrm>
          <a:prstGeom prst="ellipse">
            <a:avLst/>
          </a:prstGeom>
          <a:solidFill>
            <a:srgbClr val="F5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2"/>
          <p:cNvSpPr/>
          <p:nvPr/>
        </p:nvSpPr>
        <p:spPr>
          <a:xfrm>
            <a:off x="1371600" y="3172968"/>
            <a:ext cx="4572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B44C"/>
              </a:buClr>
              <a:buSzPts val="1500"/>
              <a:buFont typeface="Calibri"/>
              <a:buNone/>
            </a:pPr>
            <a:r>
              <a:rPr b="1" i="0" lang="en-US" sz="1500" u="none" cap="none" strike="noStrike">
                <a:solidFill>
                  <a:srgbClr val="F5B44C"/>
                </a:solidFill>
                <a:latin typeface="Calibri"/>
                <a:ea typeface="Calibri"/>
                <a:cs typeface="Calibri"/>
                <a:sym typeface="Calibri"/>
              </a:rPr>
              <a:t>Cause</a:t>
            </a:r>
            <a:endParaRPr b="0" i="0" sz="1500" u="none" cap="none" strike="noStrike">
              <a:solidFill>
                <a:schemeClr val="dk1"/>
              </a:solidFill>
              <a:latin typeface="Calibri"/>
              <a:ea typeface="Calibri"/>
              <a:cs typeface="Calibri"/>
              <a:sym typeface="Calibri"/>
            </a:endParaRPr>
          </a:p>
        </p:txBody>
      </p:sp>
      <p:sp>
        <p:nvSpPr>
          <p:cNvPr id="352" name="Google Shape;352;p12"/>
          <p:cNvSpPr/>
          <p:nvPr/>
        </p:nvSpPr>
        <p:spPr>
          <a:xfrm>
            <a:off x="1371600" y="3502152"/>
            <a:ext cx="4617720" cy="80467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Keil boots the chip at 50 MHz. Our Timer0 tick and 9600 baud are both figured for 16 MHz, so everything ran 3x off and every byte arrived scrambled.</a:t>
            </a:r>
            <a:endParaRPr b="0" i="0" sz="1250" u="none" cap="none" strike="noStrike">
              <a:solidFill>
                <a:schemeClr val="dk1"/>
              </a:solidFill>
              <a:latin typeface="Calibri"/>
              <a:ea typeface="Calibri"/>
              <a:cs typeface="Calibri"/>
              <a:sym typeface="Calibri"/>
            </a:endParaRPr>
          </a:p>
        </p:txBody>
      </p:sp>
      <p:sp>
        <p:nvSpPr>
          <p:cNvPr id="353" name="Google Shape;353;p12"/>
          <p:cNvSpPr/>
          <p:nvPr/>
        </p:nvSpPr>
        <p:spPr>
          <a:xfrm>
            <a:off x="685800" y="4544568"/>
            <a:ext cx="5486400" cy="1051560"/>
          </a:xfrm>
          <a:prstGeom prst="roundRect">
            <a:avLst>
              <a:gd fmla="val 8696"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2"/>
          <p:cNvSpPr/>
          <p:nvPr/>
        </p:nvSpPr>
        <p:spPr>
          <a:xfrm>
            <a:off x="868680" y="4745736"/>
            <a:ext cx="365760" cy="365760"/>
          </a:xfrm>
          <a:prstGeom prst="ellipse">
            <a:avLst/>
          </a:prstGeom>
          <a:solidFill>
            <a:srgbClr val="83C7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2"/>
          <p:cNvSpPr/>
          <p:nvPr/>
        </p:nvSpPr>
        <p:spPr>
          <a:xfrm>
            <a:off x="1371600" y="4690872"/>
            <a:ext cx="4572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3C7A0"/>
              </a:buClr>
              <a:buSzPts val="1500"/>
              <a:buFont typeface="Calibri"/>
              <a:buNone/>
            </a:pPr>
            <a:r>
              <a:rPr b="1" i="0" lang="en-US" sz="1500" u="none" cap="none" strike="noStrike">
                <a:solidFill>
                  <a:srgbClr val="83C7A0"/>
                </a:solidFill>
                <a:latin typeface="Calibri"/>
                <a:ea typeface="Calibri"/>
                <a:cs typeface="Calibri"/>
                <a:sym typeface="Calibri"/>
              </a:rPr>
              <a:t>Fix</a:t>
            </a:r>
            <a:endParaRPr b="0" i="0" sz="1500" u="none" cap="none" strike="noStrike">
              <a:solidFill>
                <a:schemeClr val="dk1"/>
              </a:solidFill>
              <a:latin typeface="Calibri"/>
              <a:ea typeface="Calibri"/>
              <a:cs typeface="Calibri"/>
              <a:sym typeface="Calibri"/>
            </a:endParaRPr>
          </a:p>
        </p:txBody>
      </p:sp>
      <p:sp>
        <p:nvSpPr>
          <p:cNvPr id="356" name="Google Shape;356;p12"/>
          <p:cNvSpPr/>
          <p:nvPr/>
        </p:nvSpPr>
        <p:spPr>
          <a:xfrm>
            <a:off x="1371600" y="5020056"/>
            <a:ext cx="4617720" cy="4846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A3B4D0"/>
              </a:buClr>
              <a:buSzPts val="1250"/>
              <a:buFont typeface="Calibri"/>
              <a:buNone/>
            </a:pPr>
            <a:r>
              <a:rPr b="0" i="0" lang="en-US" sz="1250" u="none" cap="none" strike="noStrike">
                <a:solidFill>
                  <a:srgbClr val="A3B4D0"/>
                </a:solidFill>
                <a:latin typeface="Calibri"/>
                <a:ea typeface="Calibri"/>
                <a:cs typeface="Calibri"/>
                <a:sym typeface="Calibri"/>
              </a:rPr>
              <a:t>Comment out one line so the chip stays at 16 MHz. This is the same setup Lab 2 required.</a:t>
            </a:r>
            <a:endParaRPr b="0" i="0" sz="1250" u="none" cap="none" strike="noStrike">
              <a:solidFill>
                <a:schemeClr val="dk1"/>
              </a:solidFill>
              <a:latin typeface="Calibri"/>
              <a:ea typeface="Calibri"/>
              <a:cs typeface="Calibri"/>
              <a:sym typeface="Calibri"/>
            </a:endParaRPr>
          </a:p>
        </p:txBody>
      </p:sp>
      <p:sp>
        <p:nvSpPr>
          <p:cNvPr id="357" name="Google Shape;357;p12"/>
          <p:cNvSpPr/>
          <p:nvPr/>
        </p:nvSpPr>
        <p:spPr>
          <a:xfrm>
            <a:off x="6400800" y="1828800"/>
            <a:ext cx="5120640" cy="3246120"/>
          </a:xfrm>
          <a:prstGeom prst="roundRect">
            <a:avLst>
              <a:gd fmla="val 2817" name="adj"/>
            </a:avLst>
          </a:prstGeom>
          <a:solidFill>
            <a:srgbClr val="0A1526"/>
          </a:solidFill>
          <a:ln cap="flat" cmpd="sng" w="12700">
            <a:solidFill>
              <a:srgbClr val="22344F"/>
            </a:solidFill>
            <a:prstDash val="solid"/>
            <a:round/>
            <a:headEnd len="sm" w="sm" type="none"/>
            <a:tailEnd len="sm" w="sm" type="none"/>
          </a:ln>
          <a:effectLst>
            <a:outerShdw blurRad="127000" rotWithShape="0" algn="bl" dir="5400000" dist="508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2"/>
          <p:cNvSpPr/>
          <p:nvPr/>
        </p:nvSpPr>
        <p:spPr>
          <a:xfrm>
            <a:off x="6583680" y="1993392"/>
            <a:ext cx="100584" cy="100584"/>
          </a:xfrm>
          <a:prstGeom prst="ellipse">
            <a:avLst/>
          </a:prstGeom>
          <a:solidFill>
            <a:srgbClr val="E56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2"/>
          <p:cNvSpPr/>
          <p:nvPr/>
        </p:nvSpPr>
        <p:spPr>
          <a:xfrm>
            <a:off x="6739128" y="1993392"/>
            <a:ext cx="100584" cy="100584"/>
          </a:xfrm>
          <a:prstGeom prst="ellipse">
            <a:avLst/>
          </a:prstGeom>
          <a:solidFill>
            <a:srgbClr val="E8B0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2"/>
          <p:cNvSpPr/>
          <p:nvPr/>
        </p:nvSpPr>
        <p:spPr>
          <a:xfrm>
            <a:off x="6894576" y="1993392"/>
            <a:ext cx="100584" cy="100584"/>
          </a:xfrm>
          <a:prstGeom prst="ellipse">
            <a:avLst/>
          </a:prstGeom>
          <a:solidFill>
            <a:srgbClr val="6FB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2"/>
          <p:cNvSpPr/>
          <p:nvPr/>
        </p:nvSpPr>
        <p:spPr>
          <a:xfrm>
            <a:off x="7132320" y="1938528"/>
            <a:ext cx="4206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2A6"/>
              </a:buClr>
              <a:buSzPts val="1050"/>
              <a:buFont typeface="Courier New"/>
              <a:buNone/>
            </a:pPr>
            <a:r>
              <a:rPr b="0" i="1" lang="en-US" sz="1050" u="none" cap="none" strike="noStrike">
                <a:solidFill>
                  <a:srgbClr val="6E82A6"/>
                </a:solidFill>
                <a:latin typeface="Courier New"/>
                <a:ea typeface="Courier New"/>
                <a:cs typeface="Courier New"/>
                <a:sym typeface="Courier New"/>
              </a:rPr>
              <a:t>one line = the whole fix</a:t>
            </a:r>
            <a:endParaRPr b="0" i="0" sz="1050" u="none" cap="none" strike="noStrike">
              <a:solidFill>
                <a:schemeClr val="dk1"/>
              </a:solidFill>
              <a:latin typeface="Calibri"/>
              <a:ea typeface="Calibri"/>
              <a:cs typeface="Calibri"/>
              <a:sym typeface="Calibri"/>
            </a:endParaRPr>
          </a:p>
        </p:txBody>
      </p:sp>
      <p:sp>
        <p:nvSpPr>
          <p:cNvPr id="362" name="Google Shape;362;p12"/>
          <p:cNvSpPr/>
          <p:nvPr/>
        </p:nvSpPr>
        <p:spPr>
          <a:xfrm>
            <a:off x="6656832" y="2286000"/>
            <a:ext cx="4663440" cy="2697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3C7A0"/>
              </a:buClr>
              <a:buSzPts val="1250"/>
              <a:buFont typeface="Courier New"/>
              <a:buNone/>
            </a:pPr>
            <a:r>
              <a:rPr b="0" i="0" lang="en-US" sz="1250" u="none" cap="none" strike="noStrike">
                <a:solidFill>
                  <a:srgbClr val="83C7A0"/>
                </a:solidFill>
                <a:latin typeface="Courier New"/>
                <a:ea typeface="Courier New"/>
                <a:cs typeface="Courier New"/>
                <a:sym typeface="Courier New"/>
              </a:rPr>
              <a:t>// system_TM4C123.c</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3C7A0"/>
              </a:buClr>
              <a:buSzPts val="1250"/>
              <a:buFont typeface="Courier New"/>
              <a:buNone/>
            </a:pPr>
            <a:r>
              <a:rPr b="0" i="0" lang="en-US" sz="1250" u="none" cap="none" strike="noStrike">
                <a:solidFill>
                  <a:srgbClr val="83C7A0"/>
                </a:solidFill>
                <a:latin typeface="Courier New"/>
                <a:ea typeface="Courier New"/>
                <a:cs typeface="Courier New"/>
                <a:sym typeface="Courier New"/>
              </a:rPr>
              <a:t>//#define CLOCK_SETUP 1  &lt;- commented out</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3C7A0"/>
              </a:buClr>
              <a:buSzPts val="1250"/>
              <a:buFont typeface="Courier New"/>
              <a:buNone/>
            </a:pPr>
            <a:r>
              <a:rPr b="0" i="0" lang="en-US" sz="1250" u="none" cap="none" strike="noStrike">
                <a:solidFill>
                  <a:srgbClr val="83C7A0"/>
                </a:solidFill>
                <a:latin typeface="Courier New"/>
                <a:ea typeface="Courier New"/>
                <a:cs typeface="Courier New"/>
                <a:sym typeface="Courier New"/>
              </a:rPr>
              <a:t>// default (bug):  50 MHz</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3C7A0"/>
              </a:buClr>
              <a:buSzPts val="1250"/>
              <a:buFont typeface="Courier New"/>
              <a:buNone/>
            </a:pPr>
            <a:r>
              <a:rPr b="0" i="0" lang="en-US" sz="1250" u="none" cap="none" strike="noStrike">
                <a:solidFill>
                  <a:srgbClr val="83C7A0"/>
                </a:solidFill>
                <a:latin typeface="Courier New"/>
                <a:ea typeface="Courier New"/>
                <a:cs typeface="Courier New"/>
                <a:sym typeface="Courier New"/>
              </a:rPr>
              <a:t>//   note pitch  3x too high</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3C7A0"/>
              </a:buClr>
              <a:buSzPts val="1250"/>
              <a:buFont typeface="Courier New"/>
              <a:buNone/>
            </a:pPr>
            <a:r>
              <a:rPr b="0" i="0" lang="en-US" sz="1250" u="none" cap="none" strike="noStrike">
                <a:solidFill>
                  <a:srgbClr val="83C7A0"/>
                </a:solidFill>
                <a:latin typeface="Courier New"/>
                <a:ea typeface="Courier New"/>
                <a:cs typeface="Courier New"/>
                <a:sym typeface="Courier New"/>
              </a:rPr>
              <a:t>//   9600 baud -&gt; ~30000 baud</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 </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3C7A0"/>
              </a:buClr>
              <a:buSzPts val="1250"/>
              <a:buFont typeface="Courier New"/>
              <a:buNone/>
            </a:pPr>
            <a:r>
              <a:rPr b="0" i="0" lang="en-US" sz="1250" u="none" cap="none" strike="noStrike">
                <a:solidFill>
                  <a:srgbClr val="83C7A0"/>
                </a:solidFill>
                <a:latin typeface="Courier New"/>
                <a:ea typeface="Courier New"/>
                <a:cs typeface="Courier New"/>
                <a:sym typeface="Courier New"/>
              </a:rPr>
              <a:t>// after fix:      16 MHz</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TIMER0-&gt;TAILR = 16-1;</a:t>
            </a:r>
            <a:r>
              <a:rPr b="0" i="0" lang="en-US" sz="1250" u="none" cap="none" strike="noStrike">
                <a:solidFill>
                  <a:srgbClr val="83C7A0"/>
                </a:solidFill>
                <a:latin typeface="Courier New"/>
                <a:ea typeface="Courier New"/>
                <a:cs typeface="Courier New"/>
                <a:sym typeface="Courier New"/>
              </a:rPr>
              <a:t>  // = 1 us</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9E4F6"/>
              </a:buClr>
              <a:buSzPts val="1250"/>
              <a:buFont typeface="Courier New"/>
              <a:buNone/>
            </a:pPr>
            <a:r>
              <a:rPr b="0" i="0" lang="en-US" sz="1250" u="none" cap="none" strike="noStrike">
                <a:solidFill>
                  <a:srgbClr val="D9E4F6"/>
                </a:solidFill>
                <a:latin typeface="Courier New"/>
                <a:ea typeface="Courier New"/>
                <a:cs typeface="Courier New"/>
                <a:sym typeface="Courier New"/>
              </a:rPr>
              <a:t>UART5-&gt;IBRD   = 104;</a:t>
            </a:r>
            <a:r>
              <a:rPr b="0" i="0" lang="en-US" sz="1250" u="none" cap="none" strike="noStrike">
                <a:solidFill>
                  <a:srgbClr val="83C7A0"/>
                </a:solidFill>
                <a:latin typeface="Courier New"/>
                <a:ea typeface="Courier New"/>
                <a:cs typeface="Courier New"/>
                <a:sym typeface="Courier New"/>
              </a:rPr>
              <a:t>  // = 9600</a:t>
            </a:r>
            <a:endParaRPr b="0" i="0" sz="1250" u="none" cap="none" strike="noStrike">
              <a:solidFill>
                <a:schemeClr val="dk1"/>
              </a:solidFill>
              <a:latin typeface="Calibri"/>
              <a:ea typeface="Calibri"/>
              <a:cs typeface="Calibri"/>
              <a:sym typeface="Calibri"/>
            </a:endParaRPr>
          </a:p>
        </p:txBody>
      </p:sp>
      <p:sp>
        <p:nvSpPr>
          <p:cNvPr id="363" name="Google Shape;363;p12"/>
          <p:cNvSpPr/>
          <p:nvPr/>
        </p:nvSpPr>
        <p:spPr>
          <a:xfrm>
            <a:off x="6400800" y="5074920"/>
            <a:ext cx="5120640" cy="1234440"/>
          </a:xfrm>
          <a:prstGeom prst="roundRect">
            <a:avLst>
              <a:gd fmla="val 7407" name="adj"/>
            </a:avLst>
          </a:prstGeom>
          <a:solidFill>
            <a:srgbClr val="1E3826"/>
          </a:solidFill>
          <a:ln cap="flat" cmpd="sng" w="15875">
            <a:solidFill>
              <a:srgbClr val="83C7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2"/>
          <p:cNvSpPr/>
          <p:nvPr/>
        </p:nvSpPr>
        <p:spPr>
          <a:xfrm>
            <a:off x="6629400" y="5074920"/>
            <a:ext cx="4709160" cy="12344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83C7A0"/>
              </a:buClr>
              <a:buSzPts val="1250"/>
              <a:buFont typeface="Calibri"/>
              <a:buNone/>
            </a:pPr>
            <a:r>
              <a:rPr b="1" i="0" lang="en-US" sz="1250" u="none" cap="none" strike="noStrike">
                <a:solidFill>
                  <a:srgbClr val="83C7A0"/>
                </a:solidFill>
                <a:latin typeface="Calibri"/>
                <a:ea typeface="Calibri"/>
                <a:cs typeface="Calibri"/>
                <a:sym typeface="Calibri"/>
              </a:rPr>
              <a:t>Takeaway:  </a:t>
            </a:r>
            <a:r>
              <a:rPr b="0" i="0" lang="en-US" sz="1250" u="none" cap="none" strike="noStrike">
                <a:solidFill>
                  <a:srgbClr val="F4F7FB"/>
                </a:solidFill>
                <a:latin typeface="Calibri"/>
                <a:ea typeface="Calibri"/>
                <a:cs typeface="Calibri"/>
                <a:sym typeface="Calibri"/>
              </a:rPr>
              <a:t>the system clock feeds </a:t>
            </a:r>
            <a:r>
              <a:rPr b="1" i="1" lang="en-US" sz="1250" u="none" cap="none" strike="noStrike">
                <a:solidFill>
                  <a:srgbClr val="83C7A0"/>
                </a:solidFill>
                <a:latin typeface="Calibri"/>
                <a:ea typeface="Calibri"/>
                <a:cs typeface="Calibri"/>
                <a:sym typeface="Calibri"/>
              </a:rPr>
              <a:t>both</a:t>
            </a:r>
            <a:r>
              <a:rPr b="0" i="0" lang="en-US" sz="1250" u="none" cap="none" strike="noStrike">
                <a:solidFill>
                  <a:srgbClr val="A3B4D0"/>
                </a:solidFill>
                <a:latin typeface="Calibri"/>
                <a:ea typeface="Calibri"/>
                <a:cs typeface="Calibri"/>
                <a:sym typeface="Calibri"/>
              </a:rPr>
              <a:t> the timing and the baud rate, so one wrong clock silently broke the music and the Bluetooth at once.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30"/>
        </a:solidFill>
      </p:bgPr>
    </p:bg>
    <p:spTree>
      <p:nvGrpSpPr>
        <p:cNvPr id="369" name="Shape 369"/>
        <p:cNvGrpSpPr/>
        <p:nvPr/>
      </p:nvGrpSpPr>
      <p:grpSpPr>
        <a:xfrm>
          <a:off x="0" y="0"/>
          <a:ext cx="0" cy="0"/>
          <a:chOff x="0" y="0"/>
          <a:chExt cx="0" cy="0"/>
        </a:xfrm>
      </p:grpSpPr>
      <p:sp>
        <p:nvSpPr>
          <p:cNvPr id="370" name="Google Shape;370;p13"/>
          <p:cNvSpPr/>
          <p:nvPr/>
        </p:nvSpPr>
        <p:spPr>
          <a:xfrm>
            <a:off x="640080" y="475488"/>
            <a:ext cx="786384" cy="786384"/>
          </a:xfrm>
          <a:prstGeom prst="ellipse">
            <a:avLst/>
          </a:prstGeom>
          <a:solidFill>
            <a:srgbClr val="35D2E8"/>
          </a:solidFill>
          <a:ln>
            <a:noFill/>
          </a:ln>
          <a:effectLst>
            <a:outerShdw blurRad="101600" rotWithShape="0" algn="bl" dir="5400000" dist="381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1" name="Google Shape;371;p13"/>
          <p:cNvPicPr preferRelativeResize="0"/>
          <p:nvPr/>
        </p:nvPicPr>
        <p:blipFill rotWithShape="1">
          <a:blip r:embed="rId3">
            <a:alphaModFix/>
          </a:blip>
          <a:srcRect b="0" l="0" r="0" t="0"/>
          <a:stretch/>
        </p:blipFill>
        <p:spPr>
          <a:xfrm>
            <a:off x="859536" y="694944"/>
            <a:ext cx="347472" cy="347472"/>
          </a:xfrm>
          <a:prstGeom prst="rect">
            <a:avLst/>
          </a:prstGeom>
          <a:noFill/>
          <a:ln>
            <a:noFill/>
          </a:ln>
        </p:spPr>
      </p:pic>
      <p:sp>
        <p:nvSpPr>
          <p:cNvPr id="372" name="Google Shape;372;p13"/>
          <p:cNvSpPr/>
          <p:nvPr/>
        </p:nvSpPr>
        <p:spPr>
          <a:xfrm>
            <a:off x="1627632" y="502920"/>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200"/>
              <a:buFont typeface="Calibri"/>
              <a:buNone/>
            </a:pPr>
            <a:r>
              <a:rPr b="1" i="0" lang="en-US" sz="1200" u="none" cap="none" strike="noStrike">
                <a:solidFill>
                  <a:srgbClr val="35D2E8"/>
                </a:solidFill>
                <a:latin typeface="Calibri"/>
                <a:ea typeface="Calibri"/>
                <a:cs typeface="Calibri"/>
                <a:sym typeface="Calibri"/>
              </a:rPr>
              <a:t>PUTTING IT TOGETHER</a:t>
            </a:r>
            <a:endParaRPr b="0" i="0" sz="1200" u="none" cap="none" strike="noStrike">
              <a:solidFill>
                <a:schemeClr val="dk1"/>
              </a:solidFill>
              <a:latin typeface="Calibri"/>
              <a:ea typeface="Calibri"/>
              <a:cs typeface="Calibri"/>
              <a:sym typeface="Calibri"/>
            </a:endParaRPr>
          </a:p>
        </p:txBody>
      </p:sp>
      <p:sp>
        <p:nvSpPr>
          <p:cNvPr id="373" name="Google Shape;373;p13"/>
          <p:cNvSpPr/>
          <p:nvPr/>
        </p:nvSpPr>
        <p:spPr>
          <a:xfrm>
            <a:off x="1600200" y="749808"/>
            <a:ext cx="10241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3000"/>
              <a:buFont typeface="Calibri"/>
              <a:buNone/>
            </a:pPr>
            <a:r>
              <a:rPr b="1" i="0" lang="en-US" sz="3000" u="none" cap="none" strike="noStrike">
                <a:solidFill>
                  <a:srgbClr val="F4F7FB"/>
                </a:solidFill>
                <a:latin typeface="Calibri"/>
                <a:ea typeface="Calibri"/>
                <a:cs typeface="Calibri"/>
                <a:sym typeface="Calibri"/>
              </a:rPr>
              <a:t>How It All Connects</a:t>
            </a:r>
            <a:endParaRPr b="0" i="0" sz="3000" u="none" cap="none" strike="noStrike">
              <a:solidFill>
                <a:schemeClr val="dk1"/>
              </a:solidFill>
              <a:latin typeface="Calibri"/>
              <a:ea typeface="Calibri"/>
              <a:cs typeface="Calibri"/>
              <a:sym typeface="Calibri"/>
            </a:endParaRPr>
          </a:p>
        </p:txBody>
      </p:sp>
      <p:sp>
        <p:nvSpPr>
          <p:cNvPr id="374" name="Google Shape;374;p13"/>
          <p:cNvSpPr/>
          <p:nvPr/>
        </p:nvSpPr>
        <p:spPr>
          <a:xfrm>
            <a:off x="777240" y="1783080"/>
            <a:ext cx="2240280" cy="1554480"/>
          </a:xfrm>
          <a:prstGeom prst="roundRect">
            <a:avLst>
              <a:gd fmla="val 7059" name="adj"/>
            </a:avLst>
          </a:prstGeom>
          <a:solidFill>
            <a:srgbClr val="18294A"/>
          </a:solidFill>
          <a:ln cap="flat" cmpd="sng" w="12700">
            <a:solidFill>
              <a:srgbClr val="2A3E63"/>
            </a:solidFill>
            <a:prstDash val="solid"/>
            <a:round/>
            <a:headEnd len="sm" w="sm" type="none"/>
            <a:tailEnd len="sm" w="sm" type="none"/>
          </a:ln>
          <a:effectLst>
            <a:outerShdw blurRad="127000" rotWithShape="0" algn="bl" dir="5400000" dist="508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3"/>
          <p:cNvSpPr/>
          <p:nvPr/>
        </p:nvSpPr>
        <p:spPr>
          <a:xfrm>
            <a:off x="1531620" y="2002536"/>
            <a:ext cx="731520" cy="731520"/>
          </a:xfrm>
          <a:prstGeom prst="ellipse">
            <a:avLst/>
          </a:prstGeom>
          <a:solidFill>
            <a:srgbClr val="35D2E8"/>
          </a:solidFill>
          <a:ln>
            <a:noFill/>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6" name="Google Shape;376;p13"/>
          <p:cNvPicPr preferRelativeResize="0"/>
          <p:nvPr/>
        </p:nvPicPr>
        <p:blipFill rotWithShape="1">
          <a:blip r:embed="rId4">
            <a:alphaModFix/>
          </a:blip>
          <a:srcRect b="0" l="0" r="0" t="0"/>
          <a:stretch/>
        </p:blipFill>
        <p:spPr>
          <a:xfrm>
            <a:off x="1723644" y="2185416"/>
            <a:ext cx="347472" cy="347472"/>
          </a:xfrm>
          <a:prstGeom prst="rect">
            <a:avLst/>
          </a:prstGeom>
          <a:noFill/>
          <a:ln>
            <a:noFill/>
          </a:ln>
        </p:spPr>
      </p:pic>
      <p:sp>
        <p:nvSpPr>
          <p:cNvPr id="377" name="Google Shape;377;p13"/>
          <p:cNvSpPr/>
          <p:nvPr/>
        </p:nvSpPr>
        <p:spPr>
          <a:xfrm>
            <a:off x="777240" y="2770632"/>
            <a:ext cx="22402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F7FB"/>
              </a:buClr>
              <a:buSzPts val="1550"/>
              <a:buFont typeface="Calibri"/>
              <a:buNone/>
            </a:pPr>
            <a:r>
              <a:rPr b="1" i="0" lang="en-US" sz="1550" u="none" cap="none" strike="noStrike">
                <a:solidFill>
                  <a:srgbClr val="F4F7FB"/>
                </a:solidFill>
                <a:latin typeface="Calibri"/>
                <a:ea typeface="Calibri"/>
                <a:cs typeface="Calibri"/>
                <a:sym typeface="Calibri"/>
              </a:rPr>
              <a:t>iPhone</a:t>
            </a:r>
            <a:endParaRPr b="0" i="0" sz="1550" u="none" cap="none" strike="noStrike">
              <a:solidFill>
                <a:schemeClr val="dk1"/>
              </a:solidFill>
              <a:latin typeface="Calibri"/>
              <a:ea typeface="Calibri"/>
              <a:cs typeface="Calibri"/>
              <a:sym typeface="Calibri"/>
            </a:endParaRPr>
          </a:p>
        </p:txBody>
      </p:sp>
      <p:sp>
        <p:nvSpPr>
          <p:cNvPr id="378" name="Google Shape;378;p13"/>
          <p:cNvSpPr/>
          <p:nvPr/>
        </p:nvSpPr>
        <p:spPr>
          <a:xfrm>
            <a:off x="822960" y="3044952"/>
            <a:ext cx="2148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3B4D0"/>
              </a:buClr>
              <a:buSzPts val="1050"/>
              <a:buFont typeface="Calibri"/>
              <a:buNone/>
            </a:pPr>
            <a:r>
              <a:rPr b="0" i="0" lang="en-US" sz="1050" u="none" cap="none" strike="noStrike">
                <a:solidFill>
                  <a:srgbClr val="A3B4D0"/>
                </a:solidFill>
                <a:latin typeface="Calibri"/>
                <a:ea typeface="Calibri"/>
                <a:cs typeface="Calibri"/>
                <a:sym typeface="Calibri"/>
              </a:rPr>
              <a:t>picks a song</a:t>
            </a:r>
            <a:endParaRPr b="0" i="0" sz="1050" u="none" cap="none" strike="noStrike">
              <a:solidFill>
                <a:schemeClr val="dk1"/>
              </a:solidFill>
              <a:latin typeface="Calibri"/>
              <a:ea typeface="Calibri"/>
              <a:cs typeface="Calibri"/>
              <a:sym typeface="Calibri"/>
            </a:endParaRPr>
          </a:p>
        </p:txBody>
      </p:sp>
      <p:sp>
        <p:nvSpPr>
          <p:cNvPr id="379" name="Google Shape;379;p13"/>
          <p:cNvSpPr/>
          <p:nvPr/>
        </p:nvSpPr>
        <p:spPr>
          <a:xfrm>
            <a:off x="3703320" y="1783080"/>
            <a:ext cx="2240280" cy="1554480"/>
          </a:xfrm>
          <a:prstGeom prst="roundRect">
            <a:avLst>
              <a:gd fmla="val 7059" name="adj"/>
            </a:avLst>
          </a:prstGeom>
          <a:solidFill>
            <a:srgbClr val="18294A"/>
          </a:solidFill>
          <a:ln cap="flat" cmpd="sng" w="12700">
            <a:solidFill>
              <a:srgbClr val="2A3E63"/>
            </a:solidFill>
            <a:prstDash val="solid"/>
            <a:round/>
            <a:headEnd len="sm" w="sm" type="none"/>
            <a:tailEnd len="sm" w="sm" type="none"/>
          </a:ln>
          <a:effectLst>
            <a:outerShdw blurRad="127000" rotWithShape="0" algn="bl" dir="5400000" dist="508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3"/>
          <p:cNvSpPr/>
          <p:nvPr/>
        </p:nvSpPr>
        <p:spPr>
          <a:xfrm>
            <a:off x="4457700" y="2002536"/>
            <a:ext cx="731520" cy="731520"/>
          </a:xfrm>
          <a:prstGeom prst="ellipse">
            <a:avLst/>
          </a:prstGeom>
          <a:solidFill>
            <a:srgbClr val="35D2E8"/>
          </a:solidFill>
          <a:ln>
            <a:noFill/>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1" name="Google Shape;381;p13"/>
          <p:cNvPicPr preferRelativeResize="0"/>
          <p:nvPr/>
        </p:nvPicPr>
        <p:blipFill rotWithShape="1">
          <a:blip r:embed="rId5">
            <a:alphaModFix/>
          </a:blip>
          <a:srcRect b="0" l="0" r="0" t="0"/>
          <a:stretch/>
        </p:blipFill>
        <p:spPr>
          <a:xfrm>
            <a:off x="4649724" y="2185416"/>
            <a:ext cx="347472" cy="347472"/>
          </a:xfrm>
          <a:prstGeom prst="rect">
            <a:avLst/>
          </a:prstGeom>
          <a:noFill/>
          <a:ln>
            <a:noFill/>
          </a:ln>
        </p:spPr>
      </p:pic>
      <p:sp>
        <p:nvSpPr>
          <p:cNvPr id="382" name="Google Shape;382;p13"/>
          <p:cNvSpPr/>
          <p:nvPr/>
        </p:nvSpPr>
        <p:spPr>
          <a:xfrm>
            <a:off x="3703320" y="2770632"/>
            <a:ext cx="22402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F7FB"/>
              </a:buClr>
              <a:buSzPts val="1550"/>
              <a:buFont typeface="Calibri"/>
              <a:buNone/>
            </a:pPr>
            <a:r>
              <a:rPr b="1" i="0" lang="en-US" sz="1550" u="none" cap="none" strike="noStrike">
                <a:solidFill>
                  <a:srgbClr val="F4F7FB"/>
                </a:solidFill>
                <a:latin typeface="Calibri"/>
                <a:ea typeface="Calibri"/>
                <a:cs typeface="Calibri"/>
                <a:sym typeface="Calibri"/>
              </a:rPr>
              <a:t>HM-10</a:t>
            </a:r>
            <a:endParaRPr b="0" i="0" sz="1550" u="none" cap="none" strike="noStrike">
              <a:solidFill>
                <a:schemeClr val="dk1"/>
              </a:solidFill>
              <a:latin typeface="Calibri"/>
              <a:ea typeface="Calibri"/>
              <a:cs typeface="Calibri"/>
              <a:sym typeface="Calibri"/>
            </a:endParaRPr>
          </a:p>
        </p:txBody>
      </p:sp>
      <p:sp>
        <p:nvSpPr>
          <p:cNvPr id="383" name="Google Shape;383;p13"/>
          <p:cNvSpPr/>
          <p:nvPr/>
        </p:nvSpPr>
        <p:spPr>
          <a:xfrm>
            <a:off x="3749040" y="3044952"/>
            <a:ext cx="2148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3B4D0"/>
              </a:buClr>
              <a:buSzPts val="1050"/>
              <a:buFont typeface="Calibri"/>
              <a:buNone/>
            </a:pPr>
            <a:r>
              <a:rPr b="0" i="0" lang="en-US" sz="1050" u="none" cap="none" strike="noStrike">
                <a:solidFill>
                  <a:srgbClr val="A3B4D0"/>
                </a:solidFill>
                <a:latin typeface="Calibri"/>
                <a:ea typeface="Calibri"/>
                <a:cs typeface="Calibri"/>
                <a:sym typeface="Calibri"/>
              </a:rPr>
              <a:t>BLE ↔ UART</a:t>
            </a:r>
            <a:endParaRPr b="0" i="0" sz="1050" u="none" cap="none" strike="noStrike">
              <a:solidFill>
                <a:schemeClr val="dk1"/>
              </a:solidFill>
              <a:latin typeface="Calibri"/>
              <a:ea typeface="Calibri"/>
              <a:cs typeface="Calibri"/>
              <a:sym typeface="Calibri"/>
            </a:endParaRPr>
          </a:p>
        </p:txBody>
      </p:sp>
      <p:sp>
        <p:nvSpPr>
          <p:cNvPr id="384" name="Google Shape;384;p13"/>
          <p:cNvSpPr/>
          <p:nvPr/>
        </p:nvSpPr>
        <p:spPr>
          <a:xfrm>
            <a:off x="6629400" y="1783080"/>
            <a:ext cx="2240280" cy="1554480"/>
          </a:xfrm>
          <a:prstGeom prst="roundRect">
            <a:avLst>
              <a:gd fmla="val 7059" name="adj"/>
            </a:avLst>
          </a:prstGeom>
          <a:solidFill>
            <a:srgbClr val="18294A"/>
          </a:solidFill>
          <a:ln cap="flat" cmpd="sng" w="12700">
            <a:solidFill>
              <a:srgbClr val="2A3E63"/>
            </a:solidFill>
            <a:prstDash val="solid"/>
            <a:round/>
            <a:headEnd len="sm" w="sm" type="none"/>
            <a:tailEnd len="sm" w="sm" type="none"/>
          </a:ln>
          <a:effectLst>
            <a:outerShdw blurRad="127000" rotWithShape="0" algn="bl" dir="5400000" dist="508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3"/>
          <p:cNvSpPr/>
          <p:nvPr/>
        </p:nvSpPr>
        <p:spPr>
          <a:xfrm>
            <a:off x="7383780" y="2002536"/>
            <a:ext cx="731520" cy="731520"/>
          </a:xfrm>
          <a:prstGeom prst="ellipse">
            <a:avLst/>
          </a:prstGeom>
          <a:solidFill>
            <a:srgbClr val="F5B44C"/>
          </a:solidFill>
          <a:ln>
            <a:noFill/>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6" name="Google Shape;386;p13"/>
          <p:cNvPicPr preferRelativeResize="0"/>
          <p:nvPr/>
        </p:nvPicPr>
        <p:blipFill rotWithShape="1">
          <a:blip r:embed="rId6">
            <a:alphaModFix/>
          </a:blip>
          <a:srcRect b="0" l="0" r="0" t="0"/>
          <a:stretch/>
        </p:blipFill>
        <p:spPr>
          <a:xfrm>
            <a:off x="7575804" y="2185416"/>
            <a:ext cx="347472" cy="347472"/>
          </a:xfrm>
          <a:prstGeom prst="rect">
            <a:avLst/>
          </a:prstGeom>
          <a:noFill/>
          <a:ln>
            <a:noFill/>
          </a:ln>
        </p:spPr>
      </p:pic>
      <p:sp>
        <p:nvSpPr>
          <p:cNvPr id="387" name="Google Shape;387;p13"/>
          <p:cNvSpPr/>
          <p:nvPr/>
        </p:nvSpPr>
        <p:spPr>
          <a:xfrm>
            <a:off x="6629400" y="2770632"/>
            <a:ext cx="22402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F7FB"/>
              </a:buClr>
              <a:buSzPts val="1550"/>
              <a:buFont typeface="Calibri"/>
              <a:buNone/>
            </a:pPr>
            <a:r>
              <a:rPr b="1" i="0" lang="en-US" sz="1550" u="none" cap="none" strike="noStrike">
                <a:solidFill>
                  <a:srgbClr val="F4F7FB"/>
                </a:solidFill>
                <a:latin typeface="Calibri"/>
                <a:ea typeface="Calibri"/>
                <a:cs typeface="Calibri"/>
                <a:sym typeface="Calibri"/>
              </a:rPr>
              <a:t>TM4C123</a:t>
            </a:r>
            <a:endParaRPr b="0" i="0" sz="1550" u="none" cap="none" strike="noStrike">
              <a:solidFill>
                <a:schemeClr val="dk1"/>
              </a:solidFill>
              <a:latin typeface="Calibri"/>
              <a:ea typeface="Calibri"/>
              <a:cs typeface="Calibri"/>
              <a:sym typeface="Calibri"/>
            </a:endParaRPr>
          </a:p>
        </p:txBody>
      </p:sp>
      <p:sp>
        <p:nvSpPr>
          <p:cNvPr id="388" name="Google Shape;388;p13"/>
          <p:cNvSpPr/>
          <p:nvPr/>
        </p:nvSpPr>
        <p:spPr>
          <a:xfrm>
            <a:off x="6675120" y="3044952"/>
            <a:ext cx="2148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3B4D0"/>
              </a:buClr>
              <a:buSzPts val="1050"/>
              <a:buFont typeface="Calibri"/>
              <a:buNone/>
            </a:pPr>
            <a:r>
              <a:rPr b="0" i="0" lang="en-US" sz="1050" u="none" cap="none" strike="noStrike">
                <a:solidFill>
                  <a:srgbClr val="A3B4D0"/>
                </a:solidFill>
                <a:latin typeface="Calibri"/>
                <a:ea typeface="Calibri"/>
                <a:cs typeface="Calibri"/>
                <a:sym typeface="Calibri"/>
              </a:rPr>
              <a:t>ISR → command → playSong</a:t>
            </a:r>
            <a:endParaRPr b="0" i="0" sz="1050" u="none" cap="none" strike="noStrike">
              <a:solidFill>
                <a:schemeClr val="dk1"/>
              </a:solidFill>
              <a:latin typeface="Calibri"/>
              <a:ea typeface="Calibri"/>
              <a:cs typeface="Calibri"/>
              <a:sym typeface="Calibri"/>
            </a:endParaRPr>
          </a:p>
        </p:txBody>
      </p:sp>
      <p:sp>
        <p:nvSpPr>
          <p:cNvPr id="389" name="Google Shape;389;p13"/>
          <p:cNvSpPr/>
          <p:nvPr/>
        </p:nvSpPr>
        <p:spPr>
          <a:xfrm>
            <a:off x="9555480" y="1783080"/>
            <a:ext cx="2240280" cy="1554480"/>
          </a:xfrm>
          <a:prstGeom prst="roundRect">
            <a:avLst>
              <a:gd fmla="val 7059" name="adj"/>
            </a:avLst>
          </a:prstGeom>
          <a:solidFill>
            <a:srgbClr val="18294A"/>
          </a:solidFill>
          <a:ln cap="flat" cmpd="sng" w="12700">
            <a:solidFill>
              <a:srgbClr val="2A3E63"/>
            </a:solidFill>
            <a:prstDash val="solid"/>
            <a:round/>
            <a:headEnd len="sm" w="sm" type="none"/>
            <a:tailEnd len="sm" w="sm" type="none"/>
          </a:ln>
          <a:effectLst>
            <a:outerShdw blurRad="127000" rotWithShape="0" algn="bl" dir="5400000" dist="508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p:nvPr/>
        </p:nvSpPr>
        <p:spPr>
          <a:xfrm>
            <a:off x="10309860" y="2002536"/>
            <a:ext cx="731520" cy="731520"/>
          </a:xfrm>
          <a:prstGeom prst="ellipse">
            <a:avLst/>
          </a:prstGeom>
          <a:solidFill>
            <a:srgbClr val="F5B44C"/>
          </a:solidFill>
          <a:ln>
            <a:noFill/>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1" name="Google Shape;391;p13"/>
          <p:cNvPicPr preferRelativeResize="0"/>
          <p:nvPr/>
        </p:nvPicPr>
        <p:blipFill rotWithShape="1">
          <a:blip r:embed="rId7">
            <a:alphaModFix/>
          </a:blip>
          <a:srcRect b="0" l="0" r="0" t="0"/>
          <a:stretch/>
        </p:blipFill>
        <p:spPr>
          <a:xfrm>
            <a:off x="10501884" y="2185416"/>
            <a:ext cx="347472" cy="347472"/>
          </a:xfrm>
          <a:prstGeom prst="rect">
            <a:avLst/>
          </a:prstGeom>
          <a:noFill/>
          <a:ln>
            <a:noFill/>
          </a:ln>
        </p:spPr>
      </p:pic>
      <p:sp>
        <p:nvSpPr>
          <p:cNvPr id="392" name="Google Shape;392;p13"/>
          <p:cNvSpPr/>
          <p:nvPr/>
        </p:nvSpPr>
        <p:spPr>
          <a:xfrm>
            <a:off x="9555480" y="2770632"/>
            <a:ext cx="22402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F7FB"/>
              </a:buClr>
              <a:buSzPts val="1550"/>
              <a:buFont typeface="Calibri"/>
              <a:buNone/>
            </a:pPr>
            <a:r>
              <a:rPr b="1" i="0" lang="en-US" sz="1550" u="none" cap="none" strike="noStrike">
                <a:solidFill>
                  <a:srgbClr val="F4F7FB"/>
                </a:solidFill>
                <a:latin typeface="Calibri"/>
                <a:ea typeface="Calibri"/>
                <a:cs typeface="Calibri"/>
                <a:sym typeface="Calibri"/>
              </a:rPr>
              <a:t>Buzzer (PC4)</a:t>
            </a:r>
            <a:endParaRPr b="0" i="0" sz="1550" u="none" cap="none" strike="noStrike">
              <a:solidFill>
                <a:schemeClr val="dk1"/>
              </a:solidFill>
              <a:latin typeface="Calibri"/>
              <a:ea typeface="Calibri"/>
              <a:cs typeface="Calibri"/>
              <a:sym typeface="Calibri"/>
            </a:endParaRPr>
          </a:p>
        </p:txBody>
      </p:sp>
      <p:sp>
        <p:nvSpPr>
          <p:cNvPr id="393" name="Google Shape;393;p13"/>
          <p:cNvSpPr/>
          <p:nvPr/>
        </p:nvSpPr>
        <p:spPr>
          <a:xfrm>
            <a:off x="9601200" y="3044952"/>
            <a:ext cx="2148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3B4D0"/>
              </a:buClr>
              <a:buSzPts val="1050"/>
              <a:buFont typeface="Calibri"/>
              <a:buNone/>
            </a:pPr>
            <a:r>
              <a:rPr b="0" i="0" lang="en-US" sz="1050" u="none" cap="none" strike="noStrike">
                <a:solidFill>
                  <a:srgbClr val="A3B4D0"/>
                </a:solidFill>
                <a:latin typeface="Calibri"/>
                <a:ea typeface="Calibri"/>
                <a:cs typeface="Calibri"/>
                <a:sym typeface="Calibri"/>
              </a:rPr>
              <a:t>square wave = tone</a:t>
            </a:r>
            <a:endParaRPr b="0" i="0" sz="1050" u="none" cap="none" strike="noStrike">
              <a:solidFill>
                <a:schemeClr val="dk1"/>
              </a:solidFill>
              <a:latin typeface="Calibri"/>
              <a:ea typeface="Calibri"/>
              <a:cs typeface="Calibri"/>
              <a:sym typeface="Calibri"/>
            </a:endParaRPr>
          </a:p>
        </p:txBody>
      </p:sp>
      <p:cxnSp>
        <p:nvCxnSpPr>
          <p:cNvPr id="394" name="Google Shape;394;p13"/>
          <p:cNvCxnSpPr/>
          <p:nvPr/>
        </p:nvCxnSpPr>
        <p:spPr>
          <a:xfrm>
            <a:off x="3017520" y="2560320"/>
            <a:ext cx="685800" cy="0"/>
          </a:xfrm>
          <a:prstGeom prst="straightConnector1">
            <a:avLst/>
          </a:prstGeom>
          <a:noFill/>
          <a:ln cap="flat" cmpd="sng" w="41275">
            <a:solidFill>
              <a:srgbClr val="35D2E8"/>
            </a:solidFill>
            <a:prstDash val="solid"/>
            <a:round/>
            <a:headEnd len="sm" w="sm" type="none"/>
            <a:tailEnd len="med" w="med" type="triangle"/>
          </a:ln>
        </p:spPr>
      </p:cxnSp>
      <p:sp>
        <p:nvSpPr>
          <p:cNvPr id="395" name="Google Shape;395;p13"/>
          <p:cNvSpPr/>
          <p:nvPr/>
        </p:nvSpPr>
        <p:spPr>
          <a:xfrm>
            <a:off x="2834640" y="2103120"/>
            <a:ext cx="1051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82A6"/>
              </a:buClr>
              <a:buSzPts val="900"/>
              <a:buFont typeface="Calibri"/>
              <a:buNone/>
            </a:pPr>
            <a:r>
              <a:rPr b="1" i="0" lang="en-US" sz="900" u="none" cap="none" strike="noStrike">
                <a:solidFill>
                  <a:srgbClr val="6E82A6"/>
                </a:solidFill>
                <a:latin typeface="Calibri"/>
                <a:ea typeface="Calibri"/>
                <a:cs typeface="Calibri"/>
                <a:sym typeface="Calibri"/>
              </a:rPr>
              <a:t>one byte over BLE</a:t>
            </a:r>
            <a:endParaRPr b="0" i="0" sz="900" u="none" cap="none" strike="noStrike">
              <a:solidFill>
                <a:schemeClr val="dk1"/>
              </a:solidFill>
              <a:latin typeface="Calibri"/>
              <a:ea typeface="Calibri"/>
              <a:cs typeface="Calibri"/>
              <a:sym typeface="Calibri"/>
            </a:endParaRPr>
          </a:p>
        </p:txBody>
      </p:sp>
      <p:cxnSp>
        <p:nvCxnSpPr>
          <p:cNvPr id="396" name="Google Shape;396;p13"/>
          <p:cNvCxnSpPr/>
          <p:nvPr/>
        </p:nvCxnSpPr>
        <p:spPr>
          <a:xfrm>
            <a:off x="5943600" y="2560320"/>
            <a:ext cx="685800" cy="0"/>
          </a:xfrm>
          <a:prstGeom prst="straightConnector1">
            <a:avLst/>
          </a:prstGeom>
          <a:noFill/>
          <a:ln cap="flat" cmpd="sng" w="41275">
            <a:solidFill>
              <a:srgbClr val="35D2E8"/>
            </a:solidFill>
            <a:prstDash val="solid"/>
            <a:round/>
            <a:headEnd len="sm" w="sm" type="none"/>
            <a:tailEnd len="med" w="med" type="triangle"/>
          </a:ln>
        </p:spPr>
      </p:cxnSp>
      <p:sp>
        <p:nvSpPr>
          <p:cNvPr id="397" name="Google Shape;397;p13"/>
          <p:cNvSpPr/>
          <p:nvPr/>
        </p:nvSpPr>
        <p:spPr>
          <a:xfrm>
            <a:off x="5760720" y="2103120"/>
            <a:ext cx="1051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82A6"/>
              </a:buClr>
              <a:buSzPts val="900"/>
              <a:buFont typeface="Calibri"/>
              <a:buNone/>
            </a:pPr>
            <a:r>
              <a:rPr b="1" i="0" lang="en-US" sz="900" u="none" cap="none" strike="noStrike">
                <a:solidFill>
                  <a:srgbClr val="6E82A6"/>
                </a:solidFill>
                <a:latin typeface="Calibri"/>
                <a:ea typeface="Calibri"/>
                <a:cs typeface="Calibri"/>
                <a:sym typeface="Calibri"/>
              </a:rPr>
              <a:t>UART TX → PE4</a:t>
            </a:r>
            <a:endParaRPr b="0" i="0" sz="900" u="none" cap="none" strike="noStrike">
              <a:solidFill>
                <a:schemeClr val="dk1"/>
              </a:solidFill>
              <a:latin typeface="Calibri"/>
              <a:ea typeface="Calibri"/>
              <a:cs typeface="Calibri"/>
              <a:sym typeface="Calibri"/>
            </a:endParaRPr>
          </a:p>
        </p:txBody>
      </p:sp>
      <p:cxnSp>
        <p:nvCxnSpPr>
          <p:cNvPr id="398" name="Google Shape;398;p13"/>
          <p:cNvCxnSpPr/>
          <p:nvPr/>
        </p:nvCxnSpPr>
        <p:spPr>
          <a:xfrm>
            <a:off x="8869680" y="2560320"/>
            <a:ext cx="685800" cy="0"/>
          </a:xfrm>
          <a:prstGeom prst="straightConnector1">
            <a:avLst/>
          </a:prstGeom>
          <a:noFill/>
          <a:ln cap="flat" cmpd="sng" w="41275">
            <a:solidFill>
              <a:srgbClr val="35D2E8"/>
            </a:solidFill>
            <a:prstDash val="solid"/>
            <a:round/>
            <a:headEnd len="sm" w="sm" type="none"/>
            <a:tailEnd len="med" w="med" type="triangle"/>
          </a:ln>
        </p:spPr>
      </p:cxnSp>
      <p:sp>
        <p:nvSpPr>
          <p:cNvPr id="399" name="Google Shape;399;p13"/>
          <p:cNvSpPr/>
          <p:nvPr/>
        </p:nvSpPr>
        <p:spPr>
          <a:xfrm>
            <a:off x="8686800" y="2103120"/>
            <a:ext cx="1051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82A6"/>
              </a:buClr>
              <a:buSzPts val="900"/>
              <a:buFont typeface="Calibri"/>
              <a:buNone/>
            </a:pPr>
            <a:r>
              <a:rPr b="1" i="0" lang="en-US" sz="900" u="none" cap="none" strike="noStrike">
                <a:solidFill>
                  <a:srgbClr val="6E82A6"/>
                </a:solidFill>
                <a:latin typeface="Calibri"/>
                <a:ea typeface="Calibri"/>
                <a:cs typeface="Calibri"/>
                <a:sym typeface="Calibri"/>
              </a:rPr>
              <a:t>PC4 toggling</a:t>
            </a:r>
            <a:endParaRPr b="0" i="0" sz="900" u="none" cap="none" strike="noStrike">
              <a:solidFill>
                <a:schemeClr val="dk1"/>
              </a:solidFill>
              <a:latin typeface="Calibri"/>
              <a:ea typeface="Calibri"/>
              <a:cs typeface="Calibri"/>
              <a:sym typeface="Calibri"/>
            </a:endParaRPr>
          </a:p>
        </p:txBody>
      </p:sp>
      <p:sp>
        <p:nvSpPr>
          <p:cNvPr id="400" name="Google Shape;400;p13"/>
          <p:cNvSpPr/>
          <p:nvPr/>
        </p:nvSpPr>
        <p:spPr>
          <a:xfrm>
            <a:off x="777240" y="379476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B"/>
              </a:buClr>
              <a:buSzPts val="1500"/>
              <a:buFont typeface="Calibri"/>
              <a:buNone/>
            </a:pPr>
            <a:r>
              <a:rPr b="1" i="0" lang="en-US" sz="1500" u="none" cap="none" strike="noStrike">
                <a:solidFill>
                  <a:srgbClr val="F4F7FB"/>
                </a:solidFill>
                <a:latin typeface="Calibri"/>
                <a:ea typeface="Calibri"/>
                <a:cs typeface="Calibri"/>
                <a:sym typeface="Calibri"/>
              </a:rPr>
              <a:t>Built from the labs</a:t>
            </a:r>
            <a:endParaRPr b="0" i="0" sz="1500" u="none" cap="none" strike="noStrike">
              <a:solidFill>
                <a:schemeClr val="dk1"/>
              </a:solidFill>
              <a:latin typeface="Calibri"/>
              <a:ea typeface="Calibri"/>
              <a:cs typeface="Calibri"/>
              <a:sym typeface="Calibri"/>
            </a:endParaRPr>
          </a:p>
        </p:txBody>
      </p:sp>
      <p:sp>
        <p:nvSpPr>
          <p:cNvPr id="401" name="Google Shape;401;p13"/>
          <p:cNvSpPr/>
          <p:nvPr/>
        </p:nvSpPr>
        <p:spPr>
          <a:xfrm>
            <a:off x="777240" y="4160520"/>
            <a:ext cx="2606040" cy="603504"/>
          </a:xfrm>
          <a:prstGeom prst="roundRect">
            <a:avLst>
              <a:gd fmla="val 15152" name="adj"/>
            </a:avLst>
          </a:prstGeom>
          <a:solidFill>
            <a:srgbClr val="18294A"/>
          </a:solidFill>
          <a:ln cap="flat" cmpd="sng" w="15875">
            <a:solidFill>
              <a:srgbClr val="35D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3"/>
          <p:cNvSpPr/>
          <p:nvPr/>
        </p:nvSpPr>
        <p:spPr>
          <a:xfrm>
            <a:off x="960120" y="4160520"/>
            <a:ext cx="22860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200"/>
              <a:buFont typeface="Calibri"/>
              <a:buNone/>
            </a:pPr>
            <a:r>
              <a:rPr b="1" i="0" lang="en-US" sz="1200" u="none" cap="none" strike="noStrike">
                <a:solidFill>
                  <a:srgbClr val="35D2E8"/>
                </a:solidFill>
                <a:latin typeface="Calibri"/>
                <a:ea typeface="Calibri"/>
                <a:cs typeface="Calibri"/>
                <a:sym typeface="Calibri"/>
              </a:rPr>
              <a:t>Lab 1   </a:t>
            </a:r>
            <a:r>
              <a:rPr b="0" i="0" lang="en-US" sz="1200" u="none" cap="none" strike="noStrike">
                <a:solidFill>
                  <a:srgbClr val="A3B4D0"/>
                </a:solidFill>
                <a:latin typeface="Calibri"/>
                <a:ea typeface="Calibri"/>
                <a:cs typeface="Calibri"/>
                <a:sym typeface="Calibri"/>
              </a:rPr>
              <a:t>GPIO / buzzer</a:t>
            </a:r>
            <a:endParaRPr b="0" i="0" sz="1200" u="none" cap="none" strike="noStrike">
              <a:solidFill>
                <a:schemeClr val="dk1"/>
              </a:solidFill>
              <a:latin typeface="Calibri"/>
              <a:ea typeface="Calibri"/>
              <a:cs typeface="Calibri"/>
              <a:sym typeface="Calibri"/>
            </a:endParaRPr>
          </a:p>
        </p:txBody>
      </p:sp>
      <p:sp>
        <p:nvSpPr>
          <p:cNvPr id="403" name="Google Shape;403;p13"/>
          <p:cNvSpPr/>
          <p:nvPr/>
        </p:nvSpPr>
        <p:spPr>
          <a:xfrm>
            <a:off x="3538728" y="4160520"/>
            <a:ext cx="2606040" cy="603504"/>
          </a:xfrm>
          <a:prstGeom prst="roundRect">
            <a:avLst>
              <a:gd fmla="val 15152" name="adj"/>
            </a:avLst>
          </a:prstGeom>
          <a:solidFill>
            <a:srgbClr val="18294A"/>
          </a:solidFill>
          <a:ln cap="flat" cmpd="sng" w="15875">
            <a:solidFill>
              <a:srgbClr val="35D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3"/>
          <p:cNvSpPr/>
          <p:nvPr/>
        </p:nvSpPr>
        <p:spPr>
          <a:xfrm>
            <a:off x="3721608" y="4160520"/>
            <a:ext cx="22860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200"/>
              <a:buFont typeface="Calibri"/>
              <a:buNone/>
            </a:pPr>
            <a:r>
              <a:rPr b="1" i="0" lang="en-US" sz="1200" u="none" cap="none" strike="noStrike">
                <a:solidFill>
                  <a:srgbClr val="35D2E8"/>
                </a:solidFill>
                <a:latin typeface="Calibri"/>
                <a:ea typeface="Calibri"/>
                <a:cs typeface="Calibri"/>
                <a:sym typeface="Calibri"/>
              </a:rPr>
              <a:t>Lab 2   </a:t>
            </a:r>
            <a:r>
              <a:rPr b="0" i="0" lang="en-US" sz="1200" u="none" cap="none" strike="noStrike">
                <a:solidFill>
                  <a:srgbClr val="A3B4D0"/>
                </a:solidFill>
                <a:latin typeface="Calibri"/>
                <a:ea typeface="Calibri"/>
                <a:cs typeface="Calibri"/>
                <a:sym typeface="Calibri"/>
              </a:rPr>
              <a:t>Timers / tones</a:t>
            </a:r>
            <a:endParaRPr b="0" i="0" sz="1200" u="none" cap="none" strike="noStrike">
              <a:solidFill>
                <a:schemeClr val="dk1"/>
              </a:solidFill>
              <a:latin typeface="Calibri"/>
              <a:ea typeface="Calibri"/>
              <a:cs typeface="Calibri"/>
              <a:sym typeface="Calibri"/>
            </a:endParaRPr>
          </a:p>
        </p:txBody>
      </p:sp>
      <p:sp>
        <p:nvSpPr>
          <p:cNvPr id="405" name="Google Shape;405;p13"/>
          <p:cNvSpPr/>
          <p:nvPr/>
        </p:nvSpPr>
        <p:spPr>
          <a:xfrm>
            <a:off x="6300216" y="4160520"/>
            <a:ext cx="2606040" cy="603504"/>
          </a:xfrm>
          <a:prstGeom prst="roundRect">
            <a:avLst>
              <a:gd fmla="val 15152" name="adj"/>
            </a:avLst>
          </a:prstGeom>
          <a:solidFill>
            <a:srgbClr val="18294A"/>
          </a:solidFill>
          <a:ln cap="flat" cmpd="sng" w="15875">
            <a:solidFill>
              <a:srgbClr val="35D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3"/>
          <p:cNvSpPr/>
          <p:nvPr/>
        </p:nvSpPr>
        <p:spPr>
          <a:xfrm>
            <a:off x="6483096" y="4160520"/>
            <a:ext cx="22860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200"/>
              <a:buFont typeface="Calibri"/>
              <a:buNone/>
            </a:pPr>
            <a:r>
              <a:rPr b="1" i="0" lang="en-US" sz="1200" u="none" cap="none" strike="noStrike">
                <a:solidFill>
                  <a:srgbClr val="35D2E8"/>
                </a:solidFill>
                <a:latin typeface="Calibri"/>
                <a:ea typeface="Calibri"/>
                <a:cs typeface="Calibri"/>
                <a:sym typeface="Calibri"/>
              </a:rPr>
              <a:t>Lab 3   </a:t>
            </a:r>
            <a:r>
              <a:rPr b="0" i="0" lang="en-US" sz="1200" u="none" cap="none" strike="noStrike">
                <a:solidFill>
                  <a:srgbClr val="A3B4D0"/>
                </a:solidFill>
                <a:latin typeface="Calibri"/>
                <a:ea typeface="Calibri"/>
                <a:cs typeface="Calibri"/>
                <a:sym typeface="Calibri"/>
              </a:rPr>
              <a:t>Interrupts / NVIC</a:t>
            </a:r>
            <a:endParaRPr b="0" i="0" sz="1200" u="none" cap="none" strike="noStrike">
              <a:solidFill>
                <a:schemeClr val="dk1"/>
              </a:solidFill>
              <a:latin typeface="Calibri"/>
              <a:ea typeface="Calibri"/>
              <a:cs typeface="Calibri"/>
              <a:sym typeface="Calibri"/>
            </a:endParaRPr>
          </a:p>
        </p:txBody>
      </p:sp>
      <p:sp>
        <p:nvSpPr>
          <p:cNvPr id="407" name="Google Shape;407;p13"/>
          <p:cNvSpPr/>
          <p:nvPr/>
        </p:nvSpPr>
        <p:spPr>
          <a:xfrm>
            <a:off x="9061704" y="4160520"/>
            <a:ext cx="2606040" cy="603504"/>
          </a:xfrm>
          <a:prstGeom prst="roundRect">
            <a:avLst>
              <a:gd fmla="val 15152" name="adj"/>
            </a:avLst>
          </a:prstGeom>
          <a:solidFill>
            <a:srgbClr val="18294A"/>
          </a:solidFill>
          <a:ln cap="flat" cmpd="sng" w="15875">
            <a:solidFill>
              <a:srgbClr val="35D2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3"/>
          <p:cNvSpPr/>
          <p:nvPr/>
        </p:nvSpPr>
        <p:spPr>
          <a:xfrm>
            <a:off x="9244584" y="4160520"/>
            <a:ext cx="22860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2E8"/>
              </a:buClr>
              <a:buSzPts val="1200"/>
              <a:buFont typeface="Calibri"/>
              <a:buNone/>
            </a:pPr>
            <a:r>
              <a:rPr b="1" i="0" lang="en-US" sz="1200" u="none" cap="none" strike="noStrike">
                <a:solidFill>
                  <a:srgbClr val="35D2E8"/>
                </a:solidFill>
                <a:latin typeface="Calibri"/>
                <a:ea typeface="Calibri"/>
                <a:cs typeface="Calibri"/>
                <a:sym typeface="Calibri"/>
              </a:rPr>
              <a:t>Lab 6   </a:t>
            </a:r>
            <a:r>
              <a:rPr b="0" i="0" lang="en-US" sz="1200" u="none" cap="none" strike="noStrike">
                <a:solidFill>
                  <a:srgbClr val="A3B4D0"/>
                </a:solidFill>
                <a:latin typeface="Calibri"/>
                <a:ea typeface="Calibri"/>
                <a:cs typeface="Calibri"/>
                <a:sym typeface="Calibri"/>
              </a:rPr>
              <a:t>UART / HM-10</a:t>
            </a:r>
            <a:endParaRPr b="0" i="0" sz="1200" u="none" cap="none" strike="noStrike">
              <a:solidFill>
                <a:schemeClr val="dk1"/>
              </a:solidFill>
              <a:latin typeface="Calibri"/>
              <a:ea typeface="Calibri"/>
              <a:cs typeface="Calibri"/>
              <a:sym typeface="Calibri"/>
            </a:endParaRPr>
          </a:p>
        </p:txBody>
      </p:sp>
      <p:sp>
        <p:nvSpPr>
          <p:cNvPr id="409" name="Google Shape;409;p13"/>
          <p:cNvSpPr/>
          <p:nvPr/>
        </p:nvSpPr>
        <p:spPr>
          <a:xfrm>
            <a:off x="777240" y="502920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B44C"/>
              </a:buClr>
              <a:buSzPts val="1500"/>
              <a:buFont typeface="Calibri"/>
              <a:buNone/>
            </a:pPr>
            <a:r>
              <a:rPr b="1" i="0" lang="en-US" sz="1500" u="none" cap="none" strike="noStrike">
                <a:solidFill>
                  <a:srgbClr val="F5B44C"/>
                </a:solidFill>
                <a:latin typeface="Calibri"/>
                <a:ea typeface="Calibri"/>
                <a:cs typeface="Calibri"/>
                <a:sym typeface="Calibri"/>
              </a:rPr>
              <a:t>Room to grow</a:t>
            </a:r>
            <a:endParaRPr b="0" i="0" sz="1500" u="none" cap="none" strike="noStrike">
              <a:solidFill>
                <a:schemeClr val="dk1"/>
              </a:solidFill>
              <a:latin typeface="Calibri"/>
              <a:ea typeface="Calibri"/>
              <a:cs typeface="Calibri"/>
              <a:sym typeface="Calibri"/>
            </a:endParaRPr>
          </a:p>
        </p:txBody>
      </p:sp>
      <p:sp>
        <p:nvSpPr>
          <p:cNvPr id="410" name="Google Shape;410;p13"/>
          <p:cNvSpPr/>
          <p:nvPr/>
        </p:nvSpPr>
        <p:spPr>
          <a:xfrm>
            <a:off x="777240" y="5394960"/>
            <a:ext cx="3493008" cy="658368"/>
          </a:xfrm>
          <a:prstGeom prst="roundRect">
            <a:avLst>
              <a:gd fmla="val 13889"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3"/>
          <p:cNvSpPr/>
          <p:nvPr/>
        </p:nvSpPr>
        <p:spPr>
          <a:xfrm>
            <a:off x="941832" y="5541264"/>
            <a:ext cx="365760" cy="365760"/>
          </a:xfrm>
          <a:prstGeom prst="ellipse">
            <a:avLst/>
          </a:prstGeom>
          <a:solidFill>
            <a:srgbClr val="1E3358"/>
          </a:solidFill>
          <a:ln cap="flat" cmpd="sng" w="13950">
            <a:solidFill>
              <a:srgbClr val="F5B4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2" name="Google Shape;412;p13"/>
          <p:cNvPicPr preferRelativeResize="0"/>
          <p:nvPr/>
        </p:nvPicPr>
        <p:blipFill rotWithShape="1">
          <a:blip r:embed="rId8">
            <a:alphaModFix/>
          </a:blip>
          <a:srcRect b="0" l="0" r="0" t="0"/>
          <a:stretch/>
        </p:blipFill>
        <p:spPr>
          <a:xfrm>
            <a:off x="1033272" y="5632704"/>
            <a:ext cx="182880" cy="182880"/>
          </a:xfrm>
          <a:prstGeom prst="rect">
            <a:avLst/>
          </a:prstGeom>
          <a:noFill/>
          <a:ln>
            <a:noFill/>
          </a:ln>
        </p:spPr>
      </p:pic>
      <p:sp>
        <p:nvSpPr>
          <p:cNvPr id="413" name="Google Shape;413;p13"/>
          <p:cNvSpPr/>
          <p:nvPr/>
        </p:nvSpPr>
        <p:spPr>
          <a:xfrm>
            <a:off x="1435608" y="5394960"/>
            <a:ext cx="274320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B4D0"/>
              </a:buClr>
              <a:buSzPts val="1150"/>
              <a:buFont typeface="Calibri"/>
              <a:buNone/>
            </a:pPr>
            <a:r>
              <a:rPr b="0" i="0" lang="en-US" sz="1150" u="none" cap="none" strike="noStrike">
                <a:solidFill>
                  <a:srgbClr val="A3B4D0"/>
                </a:solidFill>
                <a:latin typeface="Calibri"/>
                <a:ea typeface="Calibri"/>
                <a:cs typeface="Calibri"/>
                <a:sym typeface="Calibri"/>
              </a:rPr>
              <a:t>LED light show synced to the notes</a:t>
            </a:r>
            <a:endParaRPr b="0" i="0" sz="1150" u="none" cap="none" strike="noStrike">
              <a:solidFill>
                <a:schemeClr val="dk1"/>
              </a:solidFill>
              <a:latin typeface="Calibri"/>
              <a:ea typeface="Calibri"/>
              <a:cs typeface="Calibri"/>
              <a:sym typeface="Calibri"/>
            </a:endParaRPr>
          </a:p>
        </p:txBody>
      </p:sp>
      <p:sp>
        <p:nvSpPr>
          <p:cNvPr id="414" name="Google Shape;414;p13"/>
          <p:cNvSpPr/>
          <p:nvPr/>
        </p:nvSpPr>
        <p:spPr>
          <a:xfrm>
            <a:off x="4416552" y="5394960"/>
            <a:ext cx="3493008" cy="658368"/>
          </a:xfrm>
          <a:prstGeom prst="roundRect">
            <a:avLst>
              <a:gd fmla="val 13889"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3"/>
          <p:cNvSpPr/>
          <p:nvPr/>
        </p:nvSpPr>
        <p:spPr>
          <a:xfrm>
            <a:off x="4581144" y="5541264"/>
            <a:ext cx="365760" cy="365760"/>
          </a:xfrm>
          <a:prstGeom prst="ellipse">
            <a:avLst/>
          </a:prstGeom>
          <a:solidFill>
            <a:srgbClr val="1E3358"/>
          </a:solidFill>
          <a:ln cap="flat" cmpd="sng" w="13950">
            <a:solidFill>
              <a:srgbClr val="F5B4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6" name="Google Shape;416;p13"/>
          <p:cNvPicPr preferRelativeResize="0"/>
          <p:nvPr/>
        </p:nvPicPr>
        <p:blipFill rotWithShape="1">
          <a:blip r:embed="rId9">
            <a:alphaModFix/>
          </a:blip>
          <a:srcRect b="0" l="0" r="0" t="0"/>
          <a:stretch/>
        </p:blipFill>
        <p:spPr>
          <a:xfrm>
            <a:off x="4672584" y="5632704"/>
            <a:ext cx="182880" cy="182880"/>
          </a:xfrm>
          <a:prstGeom prst="rect">
            <a:avLst/>
          </a:prstGeom>
          <a:noFill/>
          <a:ln>
            <a:noFill/>
          </a:ln>
        </p:spPr>
      </p:pic>
      <p:sp>
        <p:nvSpPr>
          <p:cNvPr id="417" name="Google Shape;417;p13"/>
          <p:cNvSpPr/>
          <p:nvPr/>
        </p:nvSpPr>
        <p:spPr>
          <a:xfrm>
            <a:off x="5074920" y="5394960"/>
            <a:ext cx="274320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B4D0"/>
              </a:buClr>
              <a:buSzPts val="1150"/>
              <a:buFont typeface="Calibri"/>
              <a:buNone/>
            </a:pPr>
            <a:r>
              <a:rPr b="0" i="0" lang="en-US" sz="1150" u="none" cap="none" strike="noStrike">
                <a:solidFill>
                  <a:srgbClr val="A3B4D0"/>
                </a:solidFill>
                <a:latin typeface="Calibri"/>
                <a:ea typeface="Calibri"/>
                <a:cs typeface="Calibri"/>
                <a:sym typeface="Calibri"/>
              </a:rPr>
              <a:t>Stream notes live from the phone</a:t>
            </a:r>
            <a:endParaRPr b="0" i="0" sz="1150" u="none" cap="none" strike="noStrike">
              <a:solidFill>
                <a:schemeClr val="dk1"/>
              </a:solidFill>
              <a:latin typeface="Calibri"/>
              <a:ea typeface="Calibri"/>
              <a:cs typeface="Calibri"/>
              <a:sym typeface="Calibri"/>
            </a:endParaRPr>
          </a:p>
        </p:txBody>
      </p:sp>
      <p:sp>
        <p:nvSpPr>
          <p:cNvPr id="418" name="Google Shape;418;p13"/>
          <p:cNvSpPr/>
          <p:nvPr/>
        </p:nvSpPr>
        <p:spPr>
          <a:xfrm>
            <a:off x="8055864" y="5394960"/>
            <a:ext cx="3493008" cy="658368"/>
          </a:xfrm>
          <a:prstGeom prst="roundRect">
            <a:avLst>
              <a:gd fmla="val 13889" name="adj"/>
            </a:avLst>
          </a:prstGeom>
          <a:solidFill>
            <a:srgbClr val="18294A"/>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3"/>
          <p:cNvSpPr/>
          <p:nvPr/>
        </p:nvSpPr>
        <p:spPr>
          <a:xfrm>
            <a:off x="8220456" y="5541264"/>
            <a:ext cx="365760" cy="365760"/>
          </a:xfrm>
          <a:prstGeom prst="ellipse">
            <a:avLst/>
          </a:prstGeom>
          <a:solidFill>
            <a:srgbClr val="1E3358"/>
          </a:solidFill>
          <a:ln cap="flat" cmpd="sng" w="13950">
            <a:solidFill>
              <a:srgbClr val="F5B4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0" name="Google Shape;420;p13"/>
          <p:cNvPicPr preferRelativeResize="0"/>
          <p:nvPr/>
        </p:nvPicPr>
        <p:blipFill rotWithShape="1">
          <a:blip r:embed="rId10">
            <a:alphaModFix/>
          </a:blip>
          <a:srcRect b="0" l="0" r="0" t="0"/>
          <a:stretch/>
        </p:blipFill>
        <p:spPr>
          <a:xfrm>
            <a:off x="8311896" y="5632704"/>
            <a:ext cx="182880" cy="182880"/>
          </a:xfrm>
          <a:prstGeom prst="rect">
            <a:avLst/>
          </a:prstGeom>
          <a:noFill/>
          <a:ln>
            <a:noFill/>
          </a:ln>
        </p:spPr>
      </p:pic>
      <p:sp>
        <p:nvSpPr>
          <p:cNvPr id="421" name="Google Shape;421;p13"/>
          <p:cNvSpPr/>
          <p:nvPr/>
        </p:nvSpPr>
        <p:spPr>
          <a:xfrm>
            <a:off x="8714232" y="5394960"/>
            <a:ext cx="274320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3B4D0"/>
              </a:buClr>
              <a:buSzPts val="1150"/>
              <a:buFont typeface="Calibri"/>
              <a:buNone/>
            </a:pPr>
            <a:r>
              <a:rPr b="0" i="0" lang="en-US" sz="1150" u="none" cap="none" strike="noStrike">
                <a:solidFill>
                  <a:srgbClr val="A3B4D0"/>
                </a:solidFill>
                <a:latin typeface="Calibri"/>
                <a:ea typeface="Calibri"/>
                <a:cs typeface="Calibri"/>
                <a:sym typeface="Calibri"/>
              </a:rPr>
              <a:t>Playback controls: pause, next, tempo</a:t>
            </a:r>
            <a:endParaRPr b="0" i="0" sz="1150" u="none" cap="none" strike="noStrike">
              <a:solidFill>
                <a:schemeClr val="dk1"/>
              </a:solidFill>
              <a:latin typeface="Calibri"/>
              <a:ea typeface="Calibri"/>
              <a:cs typeface="Calibri"/>
              <a:sym typeface="Calibri"/>
            </a:endParaRPr>
          </a:p>
        </p:txBody>
      </p:sp>
      <p:sp>
        <p:nvSpPr>
          <p:cNvPr id="422" name="Google Shape;422;p13"/>
          <p:cNvSpPr/>
          <p:nvPr/>
        </p:nvSpPr>
        <p:spPr>
          <a:xfrm>
            <a:off x="777240" y="6199632"/>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82A6"/>
              </a:buClr>
              <a:buSzPts val="1200"/>
              <a:buFont typeface="Calibri"/>
              <a:buNone/>
            </a:pPr>
            <a:r>
              <a:rPr b="0" i="1" lang="en-US" sz="1200" u="none" cap="none" strike="noStrike">
                <a:solidFill>
                  <a:srgbClr val="6E82A6"/>
                </a:solidFill>
                <a:latin typeface="Calibri"/>
                <a:ea typeface="Calibri"/>
                <a:cs typeface="Calibri"/>
                <a:sym typeface="Calibri"/>
              </a:rPr>
              <a:t>Live demo to follow.</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